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59" r:id="rId5"/>
    <p:sldId id="261" r:id="rId6"/>
    <p:sldId id="264" r:id="rId7"/>
    <p:sldId id="265" r:id="rId8"/>
    <p:sldId id="266" r:id="rId9"/>
    <p:sldId id="267" r:id="rId10"/>
    <p:sldId id="272" r:id="rId11"/>
    <p:sldId id="27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26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3 tier Healthcare Platform on AWS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2004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Engineering &amp; Architecture | AWS Project Showcase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─  Nandana Suresh</a:t>
            </a:r>
            <a:endParaRPr lang="en-US" sz="11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562356"/>
            <a:ext cx="640080" cy="640080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1828800"/>
            <a:ext cx="640080" cy="6400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2025  |  Cloud Architecture &amp; AWS Engineering Project  |  Healthcare Domain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4069080"/>
          </a:xfrm>
          <a:prstGeom prst="rect">
            <a:avLst/>
          </a:prstGeom>
          <a:solidFill>
            <a:srgbClr val="102548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CareSync?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840480" cy="749808"/>
          </a:xfrm>
          <a:prstGeom prst="rect">
            <a:avLst/>
          </a:prstGeom>
          <a:solidFill>
            <a:srgbClr val="0E1F3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Platform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6733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appointment booking system for patients 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3840480" cy="749808"/>
          </a:xfrm>
          <a:prstGeom prst="rect">
            <a:avLst/>
          </a:prstGeom>
          <a:solidFill>
            <a:srgbClr val="0E1F3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Register/Login, browse doctors, book &amp; manage appointments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054096"/>
            <a:ext cx="3840480" cy="749808"/>
          </a:xfrm>
          <a:prstGeom prst="rect">
            <a:avLst/>
          </a:prstGeom>
          <a:solidFill>
            <a:srgbClr val="0E1F3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☁️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9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Powered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3355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AWS using industry-grade cloud architecture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895344"/>
            <a:ext cx="3840480" cy="749808"/>
          </a:xfrm>
          <a:prstGeom prst="rect">
            <a:avLst/>
          </a:prstGeom>
          <a:solidFill>
            <a:srgbClr val="0E1F3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41970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services: Auth, Doctor, Patient, Appointment, Frontend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881380"/>
            <a:ext cx="4114800" cy="1828800"/>
          </a:xfrm>
          <a:prstGeom prst="rect">
            <a:avLst/>
          </a:prstGeom>
          <a:solidFill>
            <a:srgbClr val="102548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0060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Business Problem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1280160"/>
            <a:ext cx="38404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often lack: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appointment infrastructure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availability during peak hours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multi-tier architecture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Fault-tolerant backend systems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4114800" cy="2103120"/>
          </a:xfrm>
          <a:prstGeom prst="rect">
            <a:avLst/>
          </a:prstGeom>
          <a:solidFill>
            <a:srgbClr val="102548"/>
          </a:solidFill>
          <a:ln w="1270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246120"/>
            <a:ext cx="384048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 implements: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Microservices on EC2 with Docker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&amp; Internal ALBs for routing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Scaling Groups across Multi-AZ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VPC with layered subnet isolation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Route53 custom domain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383280" y="868680"/>
            <a:ext cx="23774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0" y="868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ALB / API Gateway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554480"/>
            <a:ext cx="1664208" cy="13716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" y="16276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084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60704" y="1325880"/>
            <a:ext cx="0" cy="22860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2944368"/>
            <a:ext cx="16642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3464" y="29992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reverse proxies API calls to backend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93392" y="1554480"/>
            <a:ext cx="1664208" cy="1371600"/>
          </a:xfrm>
          <a:prstGeom prst="rect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93392" y="16276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93392" y="2084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93392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25496" y="1325880"/>
            <a:ext cx="0" cy="228600"/>
          </a:xfrm>
          <a:prstGeom prst="line">
            <a:avLst/>
          </a:prstGeom>
          <a:noFill/>
          <a:ln w="25400">
            <a:solidFill>
              <a:srgbClr val="5C35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993392" y="2944368"/>
            <a:ext cx="16642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048256" y="29992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register, login, token validation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58184" y="1554480"/>
            <a:ext cx="1664208" cy="1371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58184" y="16276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58184" y="2084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58184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90288" y="1325880"/>
            <a:ext cx="0" cy="22860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758184" y="2944368"/>
            <a:ext cx="16642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13048" y="29992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listing, profiles, specialization search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22976" y="1554480"/>
            <a:ext cx="1664208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522976" y="16276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22976" y="2084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22976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55080" y="1325880"/>
            <a:ext cx="0" cy="22860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522976" y="2944368"/>
            <a:ext cx="16642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577840" y="29992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profile management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87768" y="1554480"/>
            <a:ext cx="1664208" cy="13716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287768" y="16276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87768" y="2084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87768" y="23591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19872" y="1325880"/>
            <a:ext cx="0" cy="22860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287768" y="2944368"/>
            <a:ext cx="16642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342632" y="29992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cancel appointments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83280" y="3730752"/>
            <a:ext cx="237744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383280" y="37307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Shared MongoDB Database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78408" y="3547872"/>
            <a:ext cx="0" cy="18288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743200" y="3547872"/>
            <a:ext cx="0" cy="18288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507992" y="3547872"/>
            <a:ext cx="0" cy="18288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272784" y="3547872"/>
            <a:ext cx="0" cy="18288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037576" y="3547872"/>
            <a:ext cx="0" cy="18288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28600" y="4251960"/>
            <a:ext cx="8686800" cy="640080"/>
          </a:xfrm>
          <a:prstGeom prst="rect">
            <a:avLst/>
          </a:prstGeom>
          <a:solidFill>
            <a:srgbClr val="E3EBF6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42976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 </a:t>
            </a: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Deployment  •  Independent Scaling  •   API Communication  •  Single Responsibility per Service  •  Loose Coupling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47FFF51-AC4B-38EE-9445-CA5412463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244179"/>
            <a:ext cx="8702040" cy="477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Networking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017520" y="841248"/>
            <a:ext cx="5760720" cy="4160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108960" y="8686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VPC  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164592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539496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91840" y="17099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1280160" cy="411480"/>
          </a:xfrm>
          <a:prstGeom prst="rect">
            <a:avLst/>
          </a:prstGeom>
          <a:solidFill>
            <a:srgbClr val="263238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1280160" cy="411480"/>
          </a:xfrm>
          <a:prstGeom prst="rect">
            <a:avLst/>
          </a:prstGeom>
          <a:solidFill>
            <a:srgbClr val="263238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0916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194560" cy="411480"/>
          </a:xfrm>
          <a:prstGeom prst="rect">
            <a:avLst/>
          </a:prstGeom>
          <a:solidFill>
            <a:srgbClr val="26323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ALB (Internet-Facing)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2578608"/>
            <a:ext cx="5394960" cy="658368"/>
          </a:xfrm>
          <a:prstGeom prst="rect">
            <a:avLst/>
          </a:prstGeom>
          <a:solidFill>
            <a:srgbClr val="0D1B3D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91840" y="2596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Private-Web Subnets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28163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ASG (EC2 + Docker + nginx)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3346704"/>
            <a:ext cx="5394960" cy="658368"/>
          </a:xfrm>
          <a:prstGeom prst="rect">
            <a:avLst/>
          </a:prstGeom>
          <a:solidFill>
            <a:srgbClr val="0A1A2E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91840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Private-App Subnets  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35844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ASG • Internal ALB  (Auth / Doctor / Patient / Appointment)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4130040"/>
            <a:ext cx="539496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91840" y="4133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Private-DB Subnet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1840" y="435254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No public access, app-tier only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841248"/>
            <a:ext cx="2651760" cy="4160520"/>
          </a:xfrm>
          <a:prstGeom prst="rect">
            <a:avLst/>
          </a:prstGeom>
          <a:solidFill>
            <a:srgbClr val="102548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Public layer only has ALB &amp; Bastion — no app logic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Backend EC2s in private-app: no direct internet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DB in deepest private subnet — zero internet route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NAT GW allows egress only (no inbound from internet)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6576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Each tier has dedicated Security Group rules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Follows AWS Well-Architected Framework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ALB (Internet-Facing)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Routes to Frontend ASG (port 80)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checks on /health endpoint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Cross-AZ load balancing enabled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04288" y="2880360"/>
            <a:ext cx="0" cy="32004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320040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3200400"/>
            <a:ext cx="4160520" cy="38404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ALB (Private Subnet)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657600"/>
            <a:ext cx="388620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Path-based routing to microservices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accessible from internet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Distributes across Backend ASG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251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25196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Routing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4069080" cy="658368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1362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16550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Frontend Service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1508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075688"/>
            <a:ext cx="4069080" cy="658368"/>
          </a:xfrm>
          <a:prstGeom prst="rect">
            <a:avLst/>
          </a:prstGeom>
          <a:solidFill>
            <a:srgbClr val="5C35CC">
              <a:alpha val="13000"/>
            </a:srgbClr>
          </a:solidFill>
          <a:ln w="12700">
            <a:solidFill>
              <a:srgbClr val="5C35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075688"/>
            <a:ext cx="73152" cy="658368"/>
          </a:xfrm>
          <a:prstGeom prst="rect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2112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/api/auth/*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404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 Service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2258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3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825496"/>
            <a:ext cx="4069080" cy="658368"/>
          </a:xfrm>
          <a:prstGeom prst="rect">
            <a:avLst/>
          </a:prstGeom>
          <a:solidFill>
            <a:srgbClr val="00897B">
              <a:alpha val="13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2825496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9204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/api/doctors/*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Doctor Service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0083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75304"/>
            <a:ext cx="4069080" cy="658368"/>
          </a:xfrm>
          <a:prstGeom prst="rect">
            <a:avLst/>
          </a:prstGeom>
          <a:solidFill>
            <a:srgbClr val="FF9900">
              <a:alpha val="13000"/>
            </a:srgbClr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575304"/>
            <a:ext cx="73152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9204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/api/patients/*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3904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Patient Service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3758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325112"/>
            <a:ext cx="4069080" cy="658368"/>
          </a:xfrm>
          <a:prstGeom prst="rect">
            <a:avLst/>
          </a:prstGeom>
          <a:solidFill>
            <a:srgbClr val="E53935">
              <a:alpha val="13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54880" y="4325112"/>
            <a:ext cx="73152" cy="6583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92040" y="4361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/api/appointments/*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46542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Appointment Service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0" y="4507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&amp; High Availability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14800" cy="3200400"/>
          </a:xfrm>
          <a:prstGeom prst="rect">
            <a:avLst/>
          </a:prstGeom>
          <a:solidFill>
            <a:srgbClr val="0E1F3D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 A  (ap-south-1a)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3840480" cy="804672"/>
          </a:xfrm>
          <a:prstGeom prst="rect">
            <a:avLst/>
          </a:prstGeom>
          <a:solidFill>
            <a:srgbClr val="102548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Frontend EC2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nginx/Node  •  Health: ✅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3840480" cy="804672"/>
          </a:xfrm>
          <a:prstGeom prst="rect">
            <a:avLst/>
          </a:prstGeom>
          <a:solidFill>
            <a:srgbClr val="102548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Backend EC2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nginx/Node  •  Health: ✅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868680"/>
            <a:ext cx="4114800" cy="3200400"/>
          </a:xfrm>
          <a:prstGeom prst="rect">
            <a:avLst/>
          </a:prstGeom>
          <a:solidFill>
            <a:srgbClr val="0E1F3D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0916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 B  (ap-south-1b)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3840480" cy="804672"/>
          </a:xfrm>
          <a:prstGeom prst="rect">
            <a:avLst/>
          </a:prstGeom>
          <a:solidFill>
            <a:srgbClr val="102548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920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Frontend EC2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nginx/Node  •  Health: ✅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3840480" cy="804672"/>
          </a:xfrm>
          <a:prstGeom prst="rect">
            <a:avLst/>
          </a:prstGeom>
          <a:solidFill>
            <a:srgbClr val="102548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Backend EC2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447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nginx/Node  •  Health: ✅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4160520"/>
            <a:ext cx="8686800" cy="777240"/>
          </a:xfrm>
          <a:prstGeom prst="rect">
            <a:avLst/>
          </a:prstGeom>
          <a:solidFill>
            <a:srgbClr val="10254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4251960"/>
            <a:ext cx="1344168" cy="594360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4251960"/>
            <a:ext cx="134416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55648" y="4251960"/>
            <a:ext cx="1344168" cy="594360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755648" y="4251960"/>
            <a:ext cx="134416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AMI (Docker pre-installed)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91256" y="4251960"/>
            <a:ext cx="1344168" cy="594360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191256" y="4251960"/>
            <a:ext cx="134416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1 /  Max: 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26864" y="4251960"/>
            <a:ext cx="1344168" cy="594360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26864" y="4251960"/>
            <a:ext cx="134416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Failover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62472" y="4251960"/>
            <a:ext cx="1344168" cy="594360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62472" y="4251960"/>
            <a:ext cx="134416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Refresh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0" y="4251960"/>
            <a:ext cx="1344168" cy="594360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4251960"/>
            <a:ext cx="134416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 &amp; Custom Domain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0" y="914400"/>
            <a:ext cx="4572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app.caresync-project.online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267712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domain in browser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2468880"/>
            <a:ext cx="32004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331720" y="18288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63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 Resolver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267712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zone resolves A record to ALB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43400" y="2468880"/>
            <a:ext cx="320040" cy="0"/>
          </a:xfrm>
          <a:prstGeom prst="line">
            <a:avLst/>
          </a:prstGeom>
          <a:noFill/>
          <a:ln w="25400">
            <a:solidFill>
              <a:srgbClr val="5C35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434840" y="18288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66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ALB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2267712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record → ALB DNS name → Target Group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246888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37960" y="18288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2694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ASG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267712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serves React app via nginx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 Configuration Details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Type: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373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(Alias)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ALB DNS name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087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37360" y="4087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4087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Check: 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80760" y="4087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ALB-integrated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471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4471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Zone: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80760" y="44714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caresync-project.online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457200"/>
          </a:xfrm>
          <a:prstGeom prst="rect">
            <a:avLst/>
          </a:prstGeom>
          <a:solidFill>
            <a:srgbClr val="E53935">
              <a:alpha val="13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(Untrusted)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09728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solidFill>
            <a:srgbClr val="FF9800">
              <a:alpha val="13000"/>
            </a:srgbClr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78638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 + External ALB  (Port 80/443 only from Internet)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481328"/>
            <a:ext cx="109728" cy="4572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68680" y="2048256"/>
            <a:ext cx="7406640" cy="457200"/>
          </a:xfrm>
          <a:prstGeom prst="rect">
            <a:avLst/>
          </a:prstGeom>
          <a:solidFill>
            <a:srgbClr val="FFC107">
              <a:alpha val="13000"/>
            </a:srgbClr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2048256"/>
            <a:ext cx="7223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 —  Bastion Host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048256"/>
            <a:ext cx="109728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188720" y="2615184"/>
            <a:ext cx="6766560" cy="457200"/>
          </a:xfrm>
          <a:prstGeom prst="rect">
            <a:avLst/>
          </a:prstGeom>
          <a:solidFill>
            <a:srgbClr val="66BB6A">
              <a:alpha val="13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80160" y="2615184"/>
            <a:ext cx="65836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Private-Web Subnets  —  Frontend EC2s (from ALB SG only)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88720" y="2615184"/>
            <a:ext cx="109728" cy="4572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508760" y="3182112"/>
            <a:ext cx="6126480" cy="457200"/>
          </a:xfrm>
          <a:prstGeom prst="rect">
            <a:avLst/>
          </a:prstGeom>
          <a:solidFill>
            <a:srgbClr val="26A69A">
              <a:alpha val="13000"/>
            </a:srgbClr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600200" y="3182112"/>
            <a:ext cx="59436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Private-App Subnets  —  Backend EC2s (from Frontend SG only)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08760" y="3182112"/>
            <a:ext cx="109728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solidFill>
            <a:srgbClr val="42A5F5">
              <a:alpha val="13000"/>
            </a:srgbClr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20240" y="3749040"/>
            <a:ext cx="53035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Private-DB Subnet  —  MongoDB (from Backend SG only, Port 27017)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0" y="3749040"/>
            <a:ext cx="109728" cy="4572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4315968"/>
            <a:ext cx="8686800" cy="621792"/>
          </a:xfrm>
          <a:prstGeom prst="rect">
            <a:avLst/>
          </a:prstGeom>
          <a:solidFill>
            <a:srgbClr val="102548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Principle of Least Privilege    |    🌐 No Direct Internet to Backend    |    🔑 Bastion Host for Admin SSH    |    🛡 SG Chaining per Tier    |    📋 IAM Scoped Roles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82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97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Healthcare Platform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4023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 handles concurrent users via Auto Scaling Groups with multi-AZ redundancy, ensuring uptime even under high load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36592" y="914400"/>
            <a:ext cx="4297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73752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13832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Architecture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73752" y="1691640"/>
            <a:ext cx="4023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using AWS Well-Architected principles — secure, reliable, performant, and operationally excellent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97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Achieved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4023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 with ALBs, ASGs and self-healing instances eliminates single points of failure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6592" y="3017520"/>
            <a:ext cx="4297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73752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13832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Cloud Engineering 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73752" y="3794760"/>
            <a:ext cx="4023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expertise in EC2, VPC, ALB, Route53, Docker, ASGs, Security Groups, and production debugging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  —  From idea to production-ready cloud architecture  —  One microservice at a time.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741932" y="205740"/>
            <a:ext cx="5486400" cy="420624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743200" y="2450592"/>
            <a:ext cx="36576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  |  Highly Available Microservices Healthcare Platform on AWS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 Sundar  |  Cloud Engineering Project  |  2025  |  AWS  +  Docker  +  Microservices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852</Words>
  <Application>Microsoft Office PowerPoint</Application>
  <PresentationFormat>On-screen Show (16:9)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CareSync – Highly Available Microservices Healthcare Platform on AWS</dc:title>
  <dc:subject>PptxGenJS Presentation</dc:subject>
  <dc:creator>PptxGenJS</dc:creator>
  <cp:lastModifiedBy>Nandana Suresh(UST,IN)</cp:lastModifiedBy>
  <cp:revision>27</cp:revision>
  <dcterms:created xsi:type="dcterms:W3CDTF">2026-05-26T02:23:59Z</dcterms:created>
  <dcterms:modified xsi:type="dcterms:W3CDTF">2026-05-26T13:17:34Z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2026-05-26T03:45:33Z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bff70db5-b0c3-415d-a877-41775c3395c7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