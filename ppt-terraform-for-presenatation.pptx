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3" r:id="rId7"/>
    <p:sldId id="266" r:id="rId8"/>
    <p:sldId id="267" r:id="rId9"/>
    <p:sldId id="268" r:id="rId10"/>
    <p:sldId id="269" r:id="rId11"/>
    <p:sldId id="27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020"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59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CareSync as a production-grade cloud-native healthcare platform fully provisioned on AWS with Terraform. Emphasize this is not a simple demo — it uses 15+ AWS services organized into reusable Terraform modules.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organizations face five core challenges: scalability gaps during peak booking periods, weak data security, manual and error-prone server management, absence of real-time monitoring, and heavy reliance on manual automation for reminders and cleanup. CareSync addresses all five using AWS managed services and Terraform.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CareSync solves healthcare IT challenges by providing a five-pillar solution: patient registration, appointment booking, medical records management, automated notifications, and secure cloud deployment. The entire infrastructure is provisioned automatically with Terraform, using 15+ AWS services across two availability zones.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core features: Patient registration uses JWT-based auth stored in Secrets Manager. Appointment booking stores data in RDS PostgreSQL. Tracking allows CRUD operations via REST API. Prescriptions and medical reports are stored as S3 objects with KMS encryption. Reminders are triggered by EventBridge and sent via SNS. Cleanup Lambda purges notification records older than a configurable threshold.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split into five distinct layers. React + Vite on the frontend is served via CloudFront for low latency. Node.js + Express forms the backend API. PostgreSQL on Amazon RDS Multi-AZ handles all relational data. Terraform provisions all 15 modules. AWS is the cloud platform — region us-east-1 with multi-AZ redundancy.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path: User → WAF (filters malicious traffic) → CloudFront (caches static assets) → ALB (routes based on path pattern) → Frontend EC2 (/* path) or Backend EC2 (/api/* path) → RDS for data or S3 for file storage. All components are in private subnets except the ALB and CloudFront distribution.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was chosen because it treats infrastructure the same way you treat application code — versioned, reviewed, and deployed through a standard pipeline. The four-step workflow (Write → Init → Plan → Apply) ensures every change is intentional. Remote state in S3 means the team can collaborate; DynamoDB locking prevents concurrent applies from conflicting.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Terraform codebase is organized into 15 modules, grouped by function. Each module is independent and follows the standard three-file convention: main.tf defines resources, variables.tf declares inputs, outputs.tf exposes values to other modules. This modularity means you can update, say, the WAF module without touching the VPC module. Module outputs are wired together in the root module using variable passing.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remote backend is configured with an S3 bucket for state storage and a DynamoDB table for state locking. The S3 bucket has versioning enabled and KMS encryption. When a developer runs terraform apply, Terraform first acquires a lock in DynamoDB — if another apply is running, it waits. After the apply completes, the lock is released and the updated state is written back to S3. This prevents state corruption in team environments.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implemented in four concentric layers. Edge: WAF sits in front of CloudFront, blocking DDoS, injection attacks, and known bad actors before they reach the application. Identity: every EC2 and Lambda has a minimal IAM role — no static credentials exist. Secrets: all sensitive values (DB passwords, JWT secret, SMTP creds) are stored in Secrets Manager, not in environment variables or code. Encryption: KMS with customer-managed keys encrypts all data at rest — S3, Secrets, CloudWatch logs, Lambda environment variables.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CareSync achieves six production-grade objectives: layered security using four AWS services; full infrastructure-as-code with 15 Terraform modules; multi-AZ high availability; end-to-end observability; serverless automation for two background workflows; and edge optimization with CloudFront and WAF. The project demonstrates that a solo engineer can build and deploy a healthcare-grade cloud architecture by combining AWS managed services with Terraform IaC.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png"/><Relationship Id="rId10" Type="http://schemas.openxmlformats.org/officeDocument/2006/relationships/image" Target="../media/image2.png"/><Relationship Id="rId4" Type="http://schemas.openxmlformats.org/officeDocument/2006/relationships/image" Target="../media/image27.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1E3A52"/>
            </a:solidFill>
            <a:prstDash val="solid"/>
          </a:ln>
        </p:spPr>
        <p:txBody>
          <a:bodyPr/>
          <a:lstStyle/>
          <a:p>
            <a:endParaRPr lang="en-IN"/>
          </a:p>
        </p:txBody>
      </p:sp>
      <p:sp>
        <p:nvSpPr>
          <p:cNvPr id="3" name="Shape 1"/>
          <p:cNvSpPr/>
          <p:nvPr/>
        </p:nvSpPr>
        <p:spPr>
          <a:xfrm>
            <a:off x="1280160" y="0"/>
            <a:ext cx="0" cy="5143500"/>
          </a:xfrm>
          <a:prstGeom prst="line">
            <a:avLst/>
          </a:prstGeom>
          <a:noFill/>
          <a:ln w="3810">
            <a:solidFill>
              <a:srgbClr val="1E3A52"/>
            </a:solidFill>
            <a:prstDash val="solid"/>
          </a:ln>
        </p:spPr>
        <p:txBody>
          <a:bodyPr/>
          <a:lstStyle/>
          <a:p>
            <a:endParaRPr lang="en-IN"/>
          </a:p>
        </p:txBody>
      </p:sp>
      <p:sp>
        <p:nvSpPr>
          <p:cNvPr id="4" name="Shape 2"/>
          <p:cNvSpPr/>
          <p:nvPr/>
        </p:nvSpPr>
        <p:spPr>
          <a:xfrm>
            <a:off x="2560320" y="0"/>
            <a:ext cx="0" cy="5143500"/>
          </a:xfrm>
          <a:prstGeom prst="line">
            <a:avLst/>
          </a:prstGeom>
          <a:noFill/>
          <a:ln w="3810">
            <a:solidFill>
              <a:srgbClr val="1E3A52"/>
            </a:solidFill>
            <a:prstDash val="solid"/>
          </a:ln>
        </p:spPr>
        <p:txBody>
          <a:bodyPr/>
          <a:lstStyle/>
          <a:p>
            <a:endParaRPr lang="en-IN"/>
          </a:p>
        </p:txBody>
      </p:sp>
      <p:sp>
        <p:nvSpPr>
          <p:cNvPr id="5" name="Shape 3"/>
          <p:cNvSpPr/>
          <p:nvPr/>
        </p:nvSpPr>
        <p:spPr>
          <a:xfrm>
            <a:off x="3840480" y="0"/>
            <a:ext cx="0" cy="5143500"/>
          </a:xfrm>
          <a:prstGeom prst="line">
            <a:avLst/>
          </a:prstGeom>
          <a:noFill/>
          <a:ln w="3810">
            <a:solidFill>
              <a:srgbClr val="1E3A52"/>
            </a:solidFill>
            <a:prstDash val="solid"/>
          </a:ln>
        </p:spPr>
        <p:txBody>
          <a:bodyPr/>
          <a:lstStyle/>
          <a:p>
            <a:endParaRPr lang="en-IN"/>
          </a:p>
        </p:txBody>
      </p:sp>
      <p:sp>
        <p:nvSpPr>
          <p:cNvPr id="6" name="Shape 4"/>
          <p:cNvSpPr/>
          <p:nvPr/>
        </p:nvSpPr>
        <p:spPr>
          <a:xfrm>
            <a:off x="5120640" y="0"/>
            <a:ext cx="0" cy="5143500"/>
          </a:xfrm>
          <a:prstGeom prst="line">
            <a:avLst/>
          </a:prstGeom>
          <a:noFill/>
          <a:ln w="3810">
            <a:solidFill>
              <a:srgbClr val="1E3A52"/>
            </a:solidFill>
            <a:prstDash val="solid"/>
          </a:ln>
        </p:spPr>
        <p:txBody>
          <a:bodyPr/>
          <a:lstStyle/>
          <a:p>
            <a:endParaRPr lang="en-IN"/>
          </a:p>
        </p:txBody>
      </p:sp>
      <p:sp>
        <p:nvSpPr>
          <p:cNvPr id="7" name="Shape 5"/>
          <p:cNvSpPr/>
          <p:nvPr/>
        </p:nvSpPr>
        <p:spPr>
          <a:xfrm>
            <a:off x="6400800" y="0"/>
            <a:ext cx="0" cy="5143500"/>
          </a:xfrm>
          <a:prstGeom prst="line">
            <a:avLst/>
          </a:prstGeom>
          <a:noFill/>
          <a:ln w="3810">
            <a:solidFill>
              <a:srgbClr val="1E3A52"/>
            </a:solidFill>
            <a:prstDash val="solid"/>
          </a:ln>
        </p:spPr>
        <p:txBody>
          <a:bodyPr/>
          <a:lstStyle/>
          <a:p>
            <a:endParaRPr lang="en-IN"/>
          </a:p>
        </p:txBody>
      </p:sp>
      <p:sp>
        <p:nvSpPr>
          <p:cNvPr id="8" name="Shape 6"/>
          <p:cNvSpPr/>
          <p:nvPr/>
        </p:nvSpPr>
        <p:spPr>
          <a:xfrm>
            <a:off x="7680960" y="0"/>
            <a:ext cx="0" cy="5143500"/>
          </a:xfrm>
          <a:prstGeom prst="line">
            <a:avLst/>
          </a:prstGeom>
          <a:noFill/>
          <a:ln w="3810">
            <a:solidFill>
              <a:srgbClr val="1E3A52"/>
            </a:solidFill>
            <a:prstDash val="solid"/>
          </a:ln>
        </p:spPr>
        <p:txBody>
          <a:bodyPr/>
          <a:lstStyle/>
          <a:p>
            <a:endParaRPr lang="en-IN"/>
          </a:p>
        </p:txBody>
      </p:sp>
      <p:sp>
        <p:nvSpPr>
          <p:cNvPr id="9" name="Shape 7"/>
          <p:cNvSpPr/>
          <p:nvPr/>
        </p:nvSpPr>
        <p:spPr>
          <a:xfrm>
            <a:off x="8961120" y="0"/>
            <a:ext cx="0" cy="5143500"/>
          </a:xfrm>
          <a:prstGeom prst="line">
            <a:avLst/>
          </a:prstGeom>
          <a:noFill/>
          <a:ln w="3810">
            <a:solidFill>
              <a:srgbClr val="1E3A52"/>
            </a:solidFill>
            <a:prstDash val="solid"/>
          </a:ln>
        </p:spPr>
        <p:txBody>
          <a:bodyPr/>
          <a:lstStyle/>
          <a:p>
            <a:endParaRPr lang="en-IN"/>
          </a:p>
        </p:txBody>
      </p:sp>
      <p:sp>
        <p:nvSpPr>
          <p:cNvPr id="10" name="Shape 8"/>
          <p:cNvSpPr/>
          <p:nvPr/>
        </p:nvSpPr>
        <p:spPr>
          <a:xfrm>
            <a:off x="0" y="0"/>
            <a:ext cx="9144000" cy="109728"/>
          </a:xfrm>
          <a:prstGeom prst="rect">
            <a:avLst/>
          </a:prstGeom>
          <a:solidFill>
            <a:srgbClr val="FF9900"/>
          </a:solidFill>
          <a:ln w="12700">
            <a:solidFill>
              <a:srgbClr val="FF9900"/>
            </a:solidFill>
            <a:prstDash val="solid"/>
          </a:ln>
        </p:spPr>
        <p:txBody>
          <a:bodyPr/>
          <a:lstStyle/>
          <a:p>
            <a:endParaRPr lang="en-IN"/>
          </a:p>
        </p:txBody>
      </p:sp>
      <p:sp>
        <p:nvSpPr>
          <p:cNvPr id="11" name="Shape 9"/>
          <p:cNvSpPr/>
          <p:nvPr/>
        </p:nvSpPr>
        <p:spPr>
          <a:xfrm>
            <a:off x="640081" y="913384"/>
            <a:ext cx="7863840" cy="2926080"/>
          </a:xfrm>
          <a:prstGeom prst="rect">
            <a:avLst/>
          </a:prstGeom>
          <a:solidFill>
            <a:srgbClr val="112233"/>
          </a:solidFill>
          <a:ln w="19050">
            <a:solidFill>
              <a:srgbClr val="FF9900"/>
            </a:solidFill>
            <a:prstDash val="solid"/>
          </a:ln>
          <a:effectLst>
            <a:outerShdw blurRad="101600" dist="25400" dir="2700000" algn="bl" rotWithShape="0">
              <a:srgbClr val="000000">
                <a:alpha val="30000"/>
              </a:srgbClr>
            </a:outerShdw>
          </a:effectLst>
        </p:spPr>
        <p:txBody>
          <a:bodyPr/>
          <a:lstStyle/>
          <a:p>
            <a:endParaRPr lang="en-IN" dirty="0"/>
          </a:p>
        </p:txBody>
      </p:sp>
      <p:pic>
        <p:nvPicPr>
          <p:cNvPr id="12" name="Image 0" descr="preencoded.png"/>
          <p:cNvPicPr>
            <a:picLocks noChangeAspect="1"/>
          </p:cNvPicPr>
          <p:nvPr/>
        </p:nvPicPr>
        <p:blipFill>
          <a:blip r:embed="rId3"/>
          <a:stretch>
            <a:fillRect/>
          </a:stretch>
        </p:blipFill>
        <p:spPr>
          <a:xfrm>
            <a:off x="868680" y="1188720"/>
            <a:ext cx="822960" cy="822960"/>
          </a:xfrm>
          <a:prstGeom prst="rect">
            <a:avLst/>
          </a:prstGeom>
        </p:spPr>
      </p:pic>
      <p:sp>
        <p:nvSpPr>
          <p:cNvPr id="13" name="Text 10"/>
          <p:cNvSpPr/>
          <p:nvPr/>
        </p:nvSpPr>
        <p:spPr>
          <a:xfrm>
            <a:off x="1828800" y="1097280"/>
            <a:ext cx="6400800" cy="777240"/>
          </a:xfrm>
          <a:prstGeom prst="rect">
            <a:avLst/>
          </a:prstGeom>
          <a:noFill/>
          <a:ln/>
        </p:spPr>
        <p:txBody>
          <a:bodyPr wrap="square" lIns="0" tIns="0" rIns="0" bIns="0" rtlCol="0" anchor="ctr"/>
          <a:lstStyle/>
          <a:p>
            <a:pPr marL="0" indent="0">
              <a:buNone/>
            </a:pPr>
            <a:r>
              <a:rPr lang="en-US" sz="4400" b="1" dirty="0">
                <a:solidFill>
                  <a:srgbClr val="FF9900"/>
                </a:solidFill>
                <a:latin typeface="Cambria" pitchFamily="34" charset="0"/>
                <a:ea typeface="Cambria" pitchFamily="34" charset="-122"/>
                <a:cs typeface="Cambria" pitchFamily="34" charset="-120"/>
              </a:rPr>
              <a:t>CareSync</a:t>
            </a:r>
            <a:endParaRPr lang="en-US" sz="4400" dirty="0"/>
          </a:p>
        </p:txBody>
      </p:sp>
      <p:sp>
        <p:nvSpPr>
          <p:cNvPr id="14" name="Text 11"/>
          <p:cNvSpPr/>
          <p:nvPr/>
        </p:nvSpPr>
        <p:spPr>
          <a:xfrm>
            <a:off x="1828800" y="1828800"/>
            <a:ext cx="6400800" cy="45720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Secure Healthcare Appointment Management Platform</a:t>
            </a:r>
            <a:endParaRPr lang="en-US" sz="1800" dirty="0"/>
          </a:p>
        </p:txBody>
      </p:sp>
      <p:sp>
        <p:nvSpPr>
          <p:cNvPr id="15" name="Text 12"/>
          <p:cNvSpPr/>
          <p:nvPr/>
        </p:nvSpPr>
        <p:spPr>
          <a:xfrm>
            <a:off x="1828800" y="2267712"/>
            <a:ext cx="6400800" cy="320040"/>
          </a:xfrm>
          <a:prstGeom prst="rect">
            <a:avLst/>
          </a:prstGeom>
          <a:noFill/>
          <a:ln/>
        </p:spPr>
        <p:txBody>
          <a:bodyPr wrap="square" lIns="0" tIns="0" rIns="0" bIns="0" rtlCol="0" anchor="ctr"/>
          <a:lstStyle/>
          <a:p>
            <a:pPr marL="0" indent="0">
              <a:buNone/>
            </a:pPr>
            <a:r>
              <a:rPr lang="en-US" sz="1300" i="1" dirty="0">
                <a:solidFill>
                  <a:srgbClr val="90A8C0"/>
                </a:solidFill>
                <a:latin typeface="Calibri" pitchFamily="34" charset="0"/>
                <a:ea typeface="Calibri" pitchFamily="34" charset="-122"/>
                <a:cs typeface="Calibri" pitchFamily="34" charset="-120"/>
              </a:rPr>
              <a:t>AWS Cloud Infrastructure Provisioned Using Terraform</a:t>
            </a:r>
            <a:endParaRPr lang="en-US" sz="1300" dirty="0"/>
          </a:p>
        </p:txBody>
      </p:sp>
      <p:sp>
        <p:nvSpPr>
          <p:cNvPr id="16" name="Shape 13"/>
          <p:cNvSpPr/>
          <p:nvPr/>
        </p:nvSpPr>
        <p:spPr>
          <a:xfrm>
            <a:off x="822960" y="2788920"/>
            <a:ext cx="7498080" cy="0"/>
          </a:xfrm>
          <a:prstGeom prst="line">
            <a:avLst/>
          </a:prstGeom>
          <a:noFill/>
          <a:ln w="10160">
            <a:solidFill>
              <a:srgbClr val="FF9900"/>
            </a:solidFill>
            <a:prstDash val="solid"/>
          </a:ln>
        </p:spPr>
        <p:txBody>
          <a:bodyPr/>
          <a:lstStyle/>
          <a:p>
            <a:endParaRPr lang="en-IN"/>
          </a:p>
        </p:txBody>
      </p:sp>
      <p:sp>
        <p:nvSpPr>
          <p:cNvPr id="18" name="Text 15"/>
          <p:cNvSpPr/>
          <p:nvPr/>
        </p:nvSpPr>
        <p:spPr>
          <a:xfrm>
            <a:off x="822960" y="3246120"/>
            <a:ext cx="7498080" cy="256032"/>
          </a:xfrm>
          <a:prstGeom prst="rect">
            <a:avLst/>
          </a:prstGeom>
          <a:noFill/>
          <a:ln/>
        </p:spPr>
        <p:txBody>
          <a:bodyPr wrap="square" lIns="0" tIns="0" rIns="0" bIns="0" rtlCol="0" anchor="ctr"/>
          <a:lstStyle/>
          <a:p>
            <a:pPr marL="0" indent="0">
              <a:buNone/>
            </a:pPr>
            <a:endParaRPr lang="en-US" sz="1000" dirty="0"/>
          </a:p>
        </p:txBody>
      </p:sp>
      <p:pic>
        <p:nvPicPr>
          <p:cNvPr id="19" name="Image 1" descr="preencoded.png"/>
          <p:cNvPicPr>
            <a:picLocks noChangeAspect="1"/>
          </p:cNvPicPr>
          <p:nvPr/>
        </p:nvPicPr>
        <p:blipFill>
          <a:blip r:embed="rId4"/>
          <a:stretch>
            <a:fillRect/>
          </a:stretch>
        </p:blipFill>
        <p:spPr>
          <a:xfrm>
            <a:off x="822960" y="4023360"/>
            <a:ext cx="411480" cy="411480"/>
          </a:xfrm>
          <a:prstGeom prst="rect">
            <a:avLst/>
          </a:prstGeom>
        </p:spPr>
      </p:pic>
      <p:sp>
        <p:nvSpPr>
          <p:cNvPr id="20" name="Text 16"/>
          <p:cNvSpPr/>
          <p:nvPr/>
        </p:nvSpPr>
        <p:spPr>
          <a:xfrm>
            <a:off x="1325880" y="4005072"/>
            <a:ext cx="6858000" cy="411480"/>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Powered by Amazon Web Services  ·  Infrastructure as Code with Terraform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Problem Statement</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Why healthcare platforms need a cloud-native approach</a:t>
            </a:r>
            <a:endParaRPr lang="en-US" sz="1100" dirty="0"/>
          </a:p>
        </p:txBody>
      </p:sp>
      <p:sp>
        <p:nvSpPr>
          <p:cNvPr id="5" name="Shape 3"/>
          <p:cNvSpPr/>
          <p:nvPr/>
        </p:nvSpPr>
        <p:spPr>
          <a:xfrm>
            <a:off x="320040" y="1005840"/>
            <a:ext cx="4023360" cy="658368"/>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6" name="Shape 4"/>
          <p:cNvSpPr/>
          <p:nvPr/>
        </p:nvSpPr>
        <p:spPr>
          <a:xfrm>
            <a:off x="429768" y="1078992"/>
            <a:ext cx="512064" cy="512064"/>
          </a:xfrm>
          <a:prstGeom prst="line">
            <a:avLst/>
          </a:prstGeom>
          <a:solidFill>
            <a:srgbClr val="EF4444"/>
          </a:solidFill>
          <a:ln w="12700">
            <a:solidFill>
              <a:srgbClr val="EF4444"/>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32181" y="1181405"/>
            <a:ext cx="307238" cy="307238"/>
          </a:xfrm>
          <a:prstGeom prst="rect">
            <a:avLst/>
          </a:prstGeom>
        </p:spPr>
      </p:pic>
      <p:sp>
        <p:nvSpPr>
          <p:cNvPr id="8" name="Text 5"/>
          <p:cNvSpPr/>
          <p:nvPr/>
        </p:nvSpPr>
        <p:spPr>
          <a:xfrm>
            <a:off x="1078992" y="1051560"/>
            <a:ext cx="31089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Poor Scalability</a:t>
            </a:r>
            <a:endParaRPr lang="en-US" sz="1200" dirty="0"/>
          </a:p>
        </p:txBody>
      </p:sp>
      <p:sp>
        <p:nvSpPr>
          <p:cNvPr id="9" name="Text 6"/>
          <p:cNvSpPr/>
          <p:nvPr/>
        </p:nvSpPr>
        <p:spPr>
          <a:xfrm>
            <a:off x="1078992" y="1307592"/>
            <a:ext cx="310896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Traditional servers cannot auto-scale under demand spikes</a:t>
            </a:r>
            <a:endParaRPr lang="en-US" sz="1000" dirty="0"/>
          </a:p>
        </p:txBody>
      </p:sp>
      <p:sp>
        <p:nvSpPr>
          <p:cNvPr id="10" name="Shape 7"/>
          <p:cNvSpPr/>
          <p:nvPr/>
        </p:nvSpPr>
        <p:spPr>
          <a:xfrm>
            <a:off x="320040" y="1755648"/>
            <a:ext cx="4023360" cy="658368"/>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1" name="Shape 8"/>
          <p:cNvSpPr/>
          <p:nvPr/>
        </p:nvSpPr>
        <p:spPr>
          <a:xfrm>
            <a:off x="429768" y="1828800"/>
            <a:ext cx="512064" cy="512064"/>
          </a:xfrm>
          <a:prstGeom prst="line">
            <a:avLst/>
          </a:prstGeom>
          <a:solidFill>
            <a:srgbClr val="0073BB"/>
          </a:solidFill>
          <a:ln w="12700">
            <a:solidFill>
              <a:srgbClr val="0073BB"/>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32181" y="1931213"/>
            <a:ext cx="307238" cy="307238"/>
          </a:xfrm>
          <a:prstGeom prst="rect">
            <a:avLst/>
          </a:prstGeom>
        </p:spPr>
      </p:pic>
      <p:sp>
        <p:nvSpPr>
          <p:cNvPr id="13" name="Text 9"/>
          <p:cNvSpPr/>
          <p:nvPr/>
        </p:nvSpPr>
        <p:spPr>
          <a:xfrm>
            <a:off x="1078992" y="1801368"/>
            <a:ext cx="31089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Weak Security</a:t>
            </a:r>
            <a:endParaRPr lang="en-US" sz="1200" dirty="0"/>
          </a:p>
        </p:txBody>
      </p:sp>
      <p:sp>
        <p:nvSpPr>
          <p:cNvPr id="14" name="Text 10"/>
          <p:cNvSpPr/>
          <p:nvPr/>
        </p:nvSpPr>
        <p:spPr>
          <a:xfrm>
            <a:off x="1078992" y="2057400"/>
            <a:ext cx="310896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Patient data stored without encryption or access controls</a:t>
            </a:r>
            <a:endParaRPr lang="en-US" sz="1000" dirty="0"/>
          </a:p>
        </p:txBody>
      </p:sp>
      <p:sp>
        <p:nvSpPr>
          <p:cNvPr id="15" name="Shape 11"/>
          <p:cNvSpPr/>
          <p:nvPr/>
        </p:nvSpPr>
        <p:spPr>
          <a:xfrm>
            <a:off x="320040" y="2505456"/>
            <a:ext cx="4023360" cy="658368"/>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6" name="Shape 12"/>
          <p:cNvSpPr/>
          <p:nvPr/>
        </p:nvSpPr>
        <p:spPr>
          <a:xfrm>
            <a:off x="429768" y="2578608"/>
            <a:ext cx="512064" cy="512064"/>
          </a:xfrm>
          <a:prstGeom prst="line">
            <a:avLst/>
          </a:prstGeom>
          <a:solidFill>
            <a:srgbClr val="F97316"/>
          </a:solidFill>
          <a:ln w="12700">
            <a:solidFill>
              <a:srgbClr val="F9731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532181" y="2681021"/>
            <a:ext cx="307238" cy="307238"/>
          </a:xfrm>
          <a:prstGeom prst="rect">
            <a:avLst/>
          </a:prstGeom>
        </p:spPr>
      </p:pic>
      <p:sp>
        <p:nvSpPr>
          <p:cNvPr id="18" name="Text 13"/>
          <p:cNvSpPr/>
          <p:nvPr/>
        </p:nvSpPr>
        <p:spPr>
          <a:xfrm>
            <a:off x="1078992" y="2551176"/>
            <a:ext cx="31089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Manual Management</a:t>
            </a:r>
            <a:endParaRPr lang="en-US" sz="1200" dirty="0"/>
          </a:p>
        </p:txBody>
      </p:sp>
      <p:sp>
        <p:nvSpPr>
          <p:cNvPr id="19" name="Text 14"/>
          <p:cNvSpPr/>
          <p:nvPr/>
        </p:nvSpPr>
        <p:spPr>
          <a:xfrm>
            <a:off x="1078992" y="2807208"/>
            <a:ext cx="310896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Infrastructure provisioned manually — slow and error-prone</a:t>
            </a:r>
            <a:endParaRPr lang="en-US" sz="1000" dirty="0"/>
          </a:p>
        </p:txBody>
      </p:sp>
      <p:sp>
        <p:nvSpPr>
          <p:cNvPr id="20" name="Shape 15"/>
          <p:cNvSpPr/>
          <p:nvPr/>
        </p:nvSpPr>
        <p:spPr>
          <a:xfrm>
            <a:off x="320040" y="3255264"/>
            <a:ext cx="4023360" cy="658368"/>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1" name="Shape 16"/>
          <p:cNvSpPr/>
          <p:nvPr/>
        </p:nvSpPr>
        <p:spPr>
          <a:xfrm>
            <a:off x="429768" y="3328416"/>
            <a:ext cx="512064" cy="512064"/>
          </a:xfrm>
          <a:prstGeom prst="line">
            <a:avLst/>
          </a:prstGeom>
          <a:solidFill>
            <a:srgbClr val="64748B"/>
          </a:solidFill>
          <a:ln w="12700">
            <a:solidFill>
              <a:srgbClr val="64748B"/>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532181" y="3430829"/>
            <a:ext cx="307238" cy="307238"/>
          </a:xfrm>
          <a:prstGeom prst="rect">
            <a:avLst/>
          </a:prstGeom>
        </p:spPr>
      </p:pic>
      <p:sp>
        <p:nvSpPr>
          <p:cNvPr id="23" name="Text 17"/>
          <p:cNvSpPr/>
          <p:nvPr/>
        </p:nvSpPr>
        <p:spPr>
          <a:xfrm>
            <a:off x="1078992" y="3300984"/>
            <a:ext cx="31089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No Monitoring</a:t>
            </a:r>
            <a:endParaRPr lang="en-US" sz="1200" dirty="0"/>
          </a:p>
        </p:txBody>
      </p:sp>
      <p:sp>
        <p:nvSpPr>
          <p:cNvPr id="24" name="Text 18"/>
          <p:cNvSpPr/>
          <p:nvPr/>
        </p:nvSpPr>
        <p:spPr>
          <a:xfrm>
            <a:off x="1078992" y="3557016"/>
            <a:ext cx="310896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alerting when services fail or slow down</a:t>
            </a:r>
            <a:endParaRPr lang="en-US" sz="1000" dirty="0"/>
          </a:p>
        </p:txBody>
      </p:sp>
      <p:sp>
        <p:nvSpPr>
          <p:cNvPr id="25" name="Shape 19"/>
          <p:cNvSpPr/>
          <p:nvPr/>
        </p:nvSpPr>
        <p:spPr>
          <a:xfrm>
            <a:off x="320040" y="4005072"/>
            <a:ext cx="4023360" cy="658368"/>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6" name="Shape 20"/>
          <p:cNvSpPr/>
          <p:nvPr/>
        </p:nvSpPr>
        <p:spPr>
          <a:xfrm>
            <a:off x="429768" y="4078224"/>
            <a:ext cx="512064" cy="512064"/>
          </a:xfrm>
          <a:prstGeom prst="line">
            <a:avLst/>
          </a:prstGeom>
          <a:solidFill>
            <a:srgbClr val="EAB308"/>
          </a:solidFill>
          <a:ln w="12700">
            <a:solidFill>
              <a:srgbClr val="EAB308"/>
            </a:solidFill>
            <a:prstDash val="solid"/>
          </a:ln>
        </p:spPr>
        <p:txBody>
          <a:bodyPr/>
          <a:lstStyle/>
          <a:p>
            <a:endParaRPr lang="en-IN"/>
          </a:p>
        </p:txBody>
      </p:sp>
      <p:pic>
        <p:nvPicPr>
          <p:cNvPr id="27" name="Image 4" descr="preencoded.png"/>
          <p:cNvPicPr>
            <a:picLocks noChangeAspect="1"/>
          </p:cNvPicPr>
          <p:nvPr/>
        </p:nvPicPr>
        <p:blipFill>
          <a:blip r:embed="rId7"/>
          <a:stretch>
            <a:fillRect/>
          </a:stretch>
        </p:blipFill>
        <p:spPr>
          <a:xfrm>
            <a:off x="532181" y="4180637"/>
            <a:ext cx="307238" cy="307238"/>
          </a:xfrm>
          <a:prstGeom prst="rect">
            <a:avLst/>
          </a:prstGeom>
        </p:spPr>
      </p:pic>
      <p:sp>
        <p:nvSpPr>
          <p:cNvPr id="28" name="Text 21"/>
          <p:cNvSpPr/>
          <p:nvPr/>
        </p:nvSpPr>
        <p:spPr>
          <a:xfrm>
            <a:off x="1078992" y="4050792"/>
            <a:ext cx="31089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Poor Automation</a:t>
            </a:r>
            <a:endParaRPr lang="en-US" sz="1200" dirty="0"/>
          </a:p>
        </p:txBody>
      </p:sp>
      <p:sp>
        <p:nvSpPr>
          <p:cNvPr id="29" name="Text 22"/>
          <p:cNvSpPr/>
          <p:nvPr/>
        </p:nvSpPr>
        <p:spPr>
          <a:xfrm>
            <a:off x="1078992" y="4306824"/>
            <a:ext cx="310896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Reminders, cleanups, and backups handled manually</a:t>
            </a:r>
            <a:endParaRPr lang="en-US" sz="1000" dirty="0"/>
          </a:p>
        </p:txBody>
      </p:sp>
      <p:sp>
        <p:nvSpPr>
          <p:cNvPr id="30" name="Shape 23"/>
          <p:cNvSpPr/>
          <p:nvPr/>
        </p:nvSpPr>
        <p:spPr>
          <a:xfrm>
            <a:off x="4617720" y="1005840"/>
            <a:ext cx="4160520" cy="3749040"/>
          </a:xfrm>
          <a:prstGeom prst="rect">
            <a:avLst/>
          </a:prstGeom>
          <a:solidFill>
            <a:srgbClr val="FFF8F0"/>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1" name="Text 24"/>
          <p:cNvSpPr/>
          <p:nvPr/>
        </p:nvSpPr>
        <p:spPr>
          <a:xfrm>
            <a:off x="4709160" y="1051560"/>
            <a:ext cx="3977640" cy="502920"/>
          </a:xfrm>
          <a:prstGeom prst="rect">
            <a:avLst/>
          </a:prstGeom>
          <a:noFill/>
          <a:ln/>
        </p:spPr>
        <p:txBody>
          <a:bodyPr wrap="square" lIns="0" tIns="0" rIns="0" bIns="0" rtlCol="0" anchor="ctr"/>
          <a:lstStyle/>
          <a:p>
            <a:pPr marL="0" indent="0" algn="ctr">
              <a:buNone/>
            </a:pPr>
            <a:r>
              <a:rPr lang="en-US" sz="1500" b="1" dirty="0">
                <a:solidFill>
                  <a:srgbClr val="0073BB"/>
                </a:solidFill>
                <a:latin typeface="Cambria" pitchFamily="34" charset="0"/>
                <a:ea typeface="Cambria" pitchFamily="34" charset="-122"/>
                <a:cs typeface="Cambria" pitchFamily="34" charset="-120"/>
              </a:rPr>
              <a:t>Healthcare IT</a:t>
            </a:r>
            <a:endParaRPr lang="en-US" sz="1500" dirty="0"/>
          </a:p>
          <a:p>
            <a:pPr marL="0" indent="0" algn="ctr">
              <a:buNone/>
            </a:pPr>
            <a:r>
              <a:rPr lang="en-US" sz="1500" b="1" dirty="0">
                <a:solidFill>
                  <a:srgbClr val="0073BB"/>
                </a:solidFill>
                <a:latin typeface="Cambria" pitchFamily="34" charset="0"/>
                <a:ea typeface="Cambria" pitchFamily="34" charset="-122"/>
                <a:cs typeface="Cambria" pitchFamily="34" charset="-120"/>
              </a:rPr>
              <a:t>Challenges</a:t>
            </a:r>
            <a:endParaRPr lang="en-US" sz="1500" dirty="0"/>
          </a:p>
        </p:txBody>
      </p:sp>
      <p:sp>
        <p:nvSpPr>
          <p:cNvPr id="32" name="Shape 25"/>
          <p:cNvSpPr/>
          <p:nvPr/>
        </p:nvSpPr>
        <p:spPr>
          <a:xfrm>
            <a:off x="4709160" y="1691640"/>
            <a:ext cx="1280160" cy="1005840"/>
          </a:xfrm>
          <a:prstGeom prst="rect">
            <a:avLst/>
          </a:prstGeom>
          <a:solidFill>
            <a:srgbClr val="F1F5F9"/>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3" name="Text 26"/>
          <p:cNvSpPr/>
          <p:nvPr/>
        </p:nvSpPr>
        <p:spPr>
          <a:xfrm>
            <a:off x="4709160" y="1755648"/>
            <a:ext cx="1280160" cy="457200"/>
          </a:xfrm>
          <a:prstGeom prst="rect">
            <a:avLst/>
          </a:prstGeom>
          <a:noFill/>
          <a:ln/>
        </p:spPr>
        <p:txBody>
          <a:bodyPr wrap="square" lIns="0" tIns="0" rIns="0" bIns="0" rtlCol="0" anchor="ctr"/>
          <a:lstStyle/>
          <a:p>
            <a:pPr marL="0" indent="0" algn="ctr">
              <a:buNone/>
            </a:pPr>
            <a:r>
              <a:rPr lang="en-US" sz="3000" b="1" dirty="0">
                <a:solidFill>
                  <a:srgbClr val="EF4444"/>
                </a:solidFill>
                <a:latin typeface="Cambria" pitchFamily="34" charset="0"/>
                <a:ea typeface="Cambria" pitchFamily="34" charset="-122"/>
                <a:cs typeface="Cambria" pitchFamily="34" charset="-120"/>
              </a:rPr>
              <a:t>68%</a:t>
            </a:r>
            <a:endParaRPr lang="en-US" sz="3000" dirty="0"/>
          </a:p>
        </p:txBody>
      </p:sp>
      <p:sp>
        <p:nvSpPr>
          <p:cNvPr id="34" name="Text 27"/>
          <p:cNvSpPr/>
          <p:nvPr/>
        </p:nvSpPr>
        <p:spPr>
          <a:xfrm>
            <a:off x="4709160" y="2212848"/>
            <a:ext cx="1280160" cy="4114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of breaches involve</a:t>
            </a:r>
            <a:endParaRPr lang="en-US" sz="900" dirty="0"/>
          </a:p>
          <a:p>
            <a:pPr marL="0" indent="0" algn="ctr">
              <a:buNone/>
            </a:pPr>
            <a:r>
              <a:rPr lang="en-US" sz="900" dirty="0">
                <a:solidFill>
                  <a:srgbClr val="64748B"/>
                </a:solidFill>
                <a:latin typeface="Calibri" pitchFamily="34" charset="0"/>
                <a:ea typeface="Calibri" pitchFamily="34" charset="-122"/>
                <a:cs typeface="Calibri" pitchFamily="34" charset="-120"/>
              </a:rPr>
              <a:t>patient data</a:t>
            </a:r>
            <a:endParaRPr lang="en-US" sz="900" dirty="0"/>
          </a:p>
        </p:txBody>
      </p:sp>
      <p:sp>
        <p:nvSpPr>
          <p:cNvPr id="35" name="Shape 28"/>
          <p:cNvSpPr/>
          <p:nvPr/>
        </p:nvSpPr>
        <p:spPr>
          <a:xfrm>
            <a:off x="6080760" y="1691640"/>
            <a:ext cx="1280160" cy="1005840"/>
          </a:xfrm>
          <a:prstGeom prst="rect">
            <a:avLst/>
          </a:prstGeom>
          <a:solidFill>
            <a:srgbClr val="F1F5F9"/>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6" name="Text 29"/>
          <p:cNvSpPr/>
          <p:nvPr/>
        </p:nvSpPr>
        <p:spPr>
          <a:xfrm>
            <a:off x="6080760" y="1755648"/>
            <a:ext cx="1280160" cy="457200"/>
          </a:xfrm>
          <a:prstGeom prst="rect">
            <a:avLst/>
          </a:prstGeom>
          <a:noFill/>
          <a:ln/>
        </p:spPr>
        <p:txBody>
          <a:bodyPr wrap="square" lIns="0" tIns="0" rIns="0" bIns="0" rtlCol="0" anchor="ctr"/>
          <a:lstStyle/>
          <a:p>
            <a:pPr marL="0" indent="0" algn="ctr">
              <a:buNone/>
            </a:pPr>
            <a:r>
              <a:rPr lang="en-US" sz="3000" b="1" dirty="0">
                <a:solidFill>
                  <a:srgbClr val="F97316"/>
                </a:solidFill>
                <a:latin typeface="Cambria" pitchFamily="34" charset="0"/>
                <a:ea typeface="Cambria" pitchFamily="34" charset="-122"/>
                <a:cs typeface="Cambria" pitchFamily="34" charset="-120"/>
              </a:rPr>
              <a:t>3×</a:t>
            </a:r>
            <a:endParaRPr lang="en-US" sz="3000" dirty="0"/>
          </a:p>
        </p:txBody>
      </p:sp>
      <p:sp>
        <p:nvSpPr>
          <p:cNvPr id="37" name="Text 30"/>
          <p:cNvSpPr/>
          <p:nvPr/>
        </p:nvSpPr>
        <p:spPr>
          <a:xfrm>
            <a:off x="6080760" y="2212848"/>
            <a:ext cx="1280160" cy="4114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more costly to fix</a:t>
            </a:r>
            <a:endParaRPr lang="en-US" sz="900" dirty="0"/>
          </a:p>
          <a:p>
            <a:pPr marL="0" indent="0" algn="ctr">
              <a:buNone/>
            </a:pPr>
            <a:r>
              <a:rPr lang="en-US" sz="900" dirty="0">
                <a:solidFill>
                  <a:srgbClr val="64748B"/>
                </a:solidFill>
                <a:latin typeface="Calibri" pitchFamily="34" charset="0"/>
                <a:ea typeface="Calibri" pitchFamily="34" charset="-122"/>
                <a:cs typeface="Calibri" pitchFamily="34" charset="-120"/>
              </a:rPr>
              <a:t>post-deployment</a:t>
            </a:r>
            <a:endParaRPr lang="en-US" sz="900" dirty="0"/>
          </a:p>
        </p:txBody>
      </p:sp>
      <p:sp>
        <p:nvSpPr>
          <p:cNvPr id="38" name="Shape 31"/>
          <p:cNvSpPr/>
          <p:nvPr/>
        </p:nvSpPr>
        <p:spPr>
          <a:xfrm>
            <a:off x="7452360" y="1691640"/>
            <a:ext cx="1280160" cy="1005840"/>
          </a:xfrm>
          <a:prstGeom prst="rect">
            <a:avLst/>
          </a:prstGeom>
          <a:solidFill>
            <a:srgbClr val="F1F5F9"/>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9" name="Text 32"/>
          <p:cNvSpPr/>
          <p:nvPr/>
        </p:nvSpPr>
        <p:spPr>
          <a:xfrm>
            <a:off x="7452360" y="1755648"/>
            <a:ext cx="1280160" cy="457200"/>
          </a:xfrm>
          <a:prstGeom prst="rect">
            <a:avLst/>
          </a:prstGeom>
          <a:noFill/>
          <a:ln/>
        </p:spPr>
        <p:txBody>
          <a:bodyPr wrap="square" lIns="0" tIns="0" rIns="0" bIns="0" rtlCol="0" anchor="ctr"/>
          <a:lstStyle/>
          <a:p>
            <a:pPr marL="0" indent="0" algn="ctr">
              <a:buNone/>
            </a:pPr>
            <a:r>
              <a:rPr lang="en-US" sz="3000" b="1" dirty="0">
                <a:solidFill>
                  <a:srgbClr val="64748B"/>
                </a:solidFill>
                <a:latin typeface="Cambria" pitchFamily="34" charset="0"/>
                <a:ea typeface="Cambria" pitchFamily="34" charset="-122"/>
                <a:cs typeface="Cambria" pitchFamily="34" charset="-120"/>
              </a:rPr>
              <a:t>∞</a:t>
            </a:r>
            <a:endParaRPr lang="en-US" sz="3000" dirty="0"/>
          </a:p>
        </p:txBody>
      </p:sp>
      <p:sp>
        <p:nvSpPr>
          <p:cNvPr id="40" name="Text 33"/>
          <p:cNvSpPr/>
          <p:nvPr/>
        </p:nvSpPr>
        <p:spPr>
          <a:xfrm>
            <a:off x="7452360" y="2212848"/>
            <a:ext cx="1280160" cy="41148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manual server mgmt</a:t>
            </a:r>
            <a:endParaRPr lang="en-US" sz="900" dirty="0"/>
          </a:p>
          <a:p>
            <a:pPr marL="0" indent="0" algn="ctr">
              <a:buNone/>
            </a:pPr>
            <a:r>
              <a:rPr lang="en-US" sz="900" dirty="0">
                <a:solidFill>
                  <a:srgbClr val="64748B"/>
                </a:solidFill>
                <a:latin typeface="Calibri" pitchFamily="34" charset="0"/>
                <a:ea typeface="Calibri" pitchFamily="34" charset="-122"/>
                <a:cs typeface="Calibri" pitchFamily="34" charset="-120"/>
              </a:rPr>
              <a:t>effort wasted</a:t>
            </a:r>
            <a:endParaRPr lang="en-US" sz="900" dirty="0"/>
          </a:p>
        </p:txBody>
      </p:sp>
      <p:sp>
        <p:nvSpPr>
          <p:cNvPr id="41" name="Shape 34"/>
          <p:cNvSpPr/>
          <p:nvPr/>
        </p:nvSpPr>
        <p:spPr>
          <a:xfrm>
            <a:off x="4709160" y="2926080"/>
            <a:ext cx="3977640" cy="1508760"/>
          </a:xfrm>
          <a:prstGeom prst="rect">
            <a:avLst/>
          </a:prstGeom>
          <a:solidFill>
            <a:srgbClr val="1A2C42"/>
          </a:solidFill>
          <a:ln w="12700">
            <a:solidFill>
              <a:srgbClr val="FF9900"/>
            </a:solidFill>
            <a:prstDash val="solid"/>
          </a:ln>
          <a:effectLst>
            <a:outerShdw blurRad="101600" dist="25400" dir="2700000" algn="bl" rotWithShape="0">
              <a:srgbClr val="000000">
                <a:alpha val="12000"/>
              </a:srgbClr>
            </a:outerShdw>
          </a:effectLst>
        </p:spPr>
        <p:txBody>
          <a:bodyPr/>
          <a:lstStyle/>
          <a:p>
            <a:endParaRPr lang="en-IN"/>
          </a:p>
        </p:txBody>
      </p:sp>
      <p:pic>
        <p:nvPicPr>
          <p:cNvPr id="42" name="Image 5" descr="preencoded.png"/>
          <p:cNvPicPr>
            <a:picLocks noChangeAspect="1"/>
          </p:cNvPicPr>
          <p:nvPr/>
        </p:nvPicPr>
        <p:blipFill>
          <a:blip r:embed="rId8"/>
          <a:stretch>
            <a:fillRect/>
          </a:stretch>
        </p:blipFill>
        <p:spPr>
          <a:xfrm>
            <a:off x="4846320" y="3035808"/>
            <a:ext cx="411480" cy="411480"/>
          </a:xfrm>
          <a:prstGeom prst="rect">
            <a:avLst/>
          </a:prstGeom>
        </p:spPr>
      </p:pic>
      <p:sp>
        <p:nvSpPr>
          <p:cNvPr id="43" name="Text 35"/>
          <p:cNvSpPr/>
          <p:nvPr/>
        </p:nvSpPr>
        <p:spPr>
          <a:xfrm>
            <a:off x="5321808" y="2999232"/>
            <a:ext cx="3200400" cy="347472"/>
          </a:xfrm>
          <a:prstGeom prst="rect">
            <a:avLst/>
          </a:prstGeom>
          <a:noFill/>
          <a:ln/>
        </p:spPr>
        <p:txBody>
          <a:bodyPr wrap="square" lIns="0" tIns="0" rIns="0" bIns="0" rtlCol="0" anchor="ctr"/>
          <a:lstStyle/>
          <a:p>
            <a:pPr marL="0" indent="0">
              <a:buNone/>
            </a:pPr>
            <a:r>
              <a:rPr lang="en-US" sz="1300" b="1" dirty="0">
                <a:solidFill>
                  <a:srgbClr val="FF9900"/>
                </a:solidFill>
                <a:latin typeface="Cambria" pitchFamily="34" charset="0"/>
                <a:ea typeface="Cambria" pitchFamily="34" charset="-122"/>
                <a:cs typeface="Cambria" pitchFamily="34" charset="-120"/>
              </a:rPr>
              <a:t>Cloud-Native Solution</a:t>
            </a:r>
            <a:endParaRPr lang="en-US" sz="1300" dirty="0"/>
          </a:p>
        </p:txBody>
      </p:sp>
      <p:sp>
        <p:nvSpPr>
          <p:cNvPr id="44" name="Text 36"/>
          <p:cNvSpPr/>
          <p:nvPr/>
        </p:nvSpPr>
        <p:spPr>
          <a:xfrm>
            <a:off x="4800600" y="3337560"/>
            <a:ext cx="3840480" cy="822960"/>
          </a:xfrm>
          <a:prstGeom prst="rect">
            <a:avLst/>
          </a:prstGeom>
          <a:noFill/>
          <a:ln/>
        </p:spPr>
        <p:txBody>
          <a:bodyPr wrap="square" lIns="0" tIns="0" rIns="0" bIns="0" rtlCol="0" anchor="ctr"/>
          <a:lstStyle/>
          <a:p>
            <a:pPr marL="0" indent="0">
              <a:buNone/>
            </a:pPr>
            <a:r>
              <a:rPr lang="en-US" sz="1000" dirty="0">
                <a:solidFill>
                  <a:srgbClr val="A0C4E0"/>
                </a:solidFill>
                <a:latin typeface="Calibri" pitchFamily="34" charset="0"/>
                <a:ea typeface="Calibri" pitchFamily="34" charset="-122"/>
                <a:cs typeface="Calibri" pitchFamily="34" charset="-120"/>
              </a:rPr>
              <a:t>AWS + Terraform delivers automatic scaling, enterprise security, managed services, and full observability — solving every challenge above.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Proposed Solution</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CareSync — a secure, scalable cloud-native healthcare platform</a:t>
            </a:r>
            <a:endParaRPr lang="en-US" sz="1100" dirty="0"/>
          </a:p>
        </p:txBody>
      </p:sp>
      <p:sp>
        <p:nvSpPr>
          <p:cNvPr id="5" name="Shape 3"/>
          <p:cNvSpPr/>
          <p:nvPr/>
        </p:nvSpPr>
        <p:spPr>
          <a:xfrm>
            <a:off x="320040" y="960120"/>
            <a:ext cx="8503920" cy="594360"/>
          </a:xfrm>
          <a:prstGeom prst="rect">
            <a:avLst/>
          </a:prstGeom>
          <a:solidFill>
            <a:srgbClr val="1A2C42"/>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6"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7" name="Text 4"/>
          <p:cNvSpPr/>
          <p:nvPr/>
        </p:nvSpPr>
        <p:spPr>
          <a:xfrm>
            <a:off x="1005840" y="1005840"/>
            <a:ext cx="768096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CareSync is a cloud-native platform built entirely on AWS, provisioned with Terraform IaC, providing appointment management, medical record handling, automated notifications, and secure data storage.</a:t>
            </a:r>
            <a:endParaRPr lang="en-US" sz="1100" dirty="0"/>
          </a:p>
        </p:txBody>
      </p:sp>
      <p:sp>
        <p:nvSpPr>
          <p:cNvPr id="8" name="Shape 5"/>
          <p:cNvSpPr/>
          <p:nvPr/>
        </p:nvSpPr>
        <p:spPr>
          <a:xfrm>
            <a:off x="320040" y="1737360"/>
            <a:ext cx="1572768" cy="13716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9" name="Shape 6"/>
          <p:cNvSpPr/>
          <p:nvPr/>
        </p:nvSpPr>
        <p:spPr>
          <a:xfrm>
            <a:off x="813816" y="1792224"/>
            <a:ext cx="585216" cy="585216"/>
          </a:xfrm>
          <a:prstGeom prst="line">
            <a:avLst/>
          </a:prstGeom>
          <a:solidFill>
            <a:srgbClr val="0073BB"/>
          </a:solidFill>
          <a:ln w="12700">
            <a:solidFill>
              <a:srgbClr val="0073BB"/>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930859" y="1909267"/>
            <a:ext cx="351130" cy="351130"/>
          </a:xfrm>
          <a:prstGeom prst="rect">
            <a:avLst/>
          </a:prstGeom>
        </p:spPr>
      </p:pic>
      <p:sp>
        <p:nvSpPr>
          <p:cNvPr id="11" name="Text 7"/>
          <p:cNvSpPr/>
          <p:nvPr/>
        </p:nvSpPr>
        <p:spPr>
          <a:xfrm>
            <a:off x="320040" y="2487168"/>
            <a:ext cx="1572768" cy="5029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Patient</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Registration</a:t>
            </a:r>
            <a:endParaRPr lang="en-US" sz="1100" dirty="0"/>
          </a:p>
        </p:txBody>
      </p:sp>
      <p:sp>
        <p:nvSpPr>
          <p:cNvPr id="12" name="Shape 8"/>
          <p:cNvSpPr/>
          <p:nvPr/>
        </p:nvSpPr>
        <p:spPr>
          <a:xfrm>
            <a:off x="1892808" y="2423160"/>
            <a:ext cx="137160" cy="0"/>
          </a:xfrm>
          <a:prstGeom prst="line">
            <a:avLst/>
          </a:prstGeom>
          <a:noFill/>
          <a:ln w="25400">
            <a:solidFill>
              <a:srgbClr val="FF9900"/>
            </a:solidFill>
            <a:prstDash val="solid"/>
            <a:tailEnd type="arrow"/>
          </a:ln>
        </p:spPr>
        <p:txBody>
          <a:bodyPr/>
          <a:lstStyle/>
          <a:p>
            <a:endParaRPr lang="en-IN"/>
          </a:p>
        </p:txBody>
      </p:sp>
      <p:sp>
        <p:nvSpPr>
          <p:cNvPr id="13" name="Shape 9"/>
          <p:cNvSpPr/>
          <p:nvPr/>
        </p:nvSpPr>
        <p:spPr>
          <a:xfrm>
            <a:off x="2029968" y="1737360"/>
            <a:ext cx="1572768" cy="13716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4" name="Shape 10"/>
          <p:cNvSpPr/>
          <p:nvPr/>
        </p:nvSpPr>
        <p:spPr>
          <a:xfrm>
            <a:off x="2523744" y="1792224"/>
            <a:ext cx="585216" cy="585216"/>
          </a:xfrm>
          <a:prstGeom prst="line">
            <a:avLst/>
          </a:prstGeom>
          <a:solidFill>
            <a:srgbClr val="22C55E"/>
          </a:solidFill>
          <a:ln w="12700">
            <a:solidFill>
              <a:srgbClr val="22C55E"/>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2640787" y="1909267"/>
            <a:ext cx="351130" cy="351130"/>
          </a:xfrm>
          <a:prstGeom prst="rect">
            <a:avLst/>
          </a:prstGeom>
        </p:spPr>
      </p:pic>
      <p:sp>
        <p:nvSpPr>
          <p:cNvPr id="16" name="Text 11"/>
          <p:cNvSpPr/>
          <p:nvPr/>
        </p:nvSpPr>
        <p:spPr>
          <a:xfrm>
            <a:off x="2029968" y="2487168"/>
            <a:ext cx="1572768" cy="5029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Appointment</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Booking</a:t>
            </a:r>
            <a:endParaRPr lang="en-US" sz="1100" dirty="0"/>
          </a:p>
        </p:txBody>
      </p:sp>
      <p:sp>
        <p:nvSpPr>
          <p:cNvPr id="17" name="Shape 12"/>
          <p:cNvSpPr/>
          <p:nvPr/>
        </p:nvSpPr>
        <p:spPr>
          <a:xfrm>
            <a:off x="3602736" y="2423160"/>
            <a:ext cx="137160" cy="0"/>
          </a:xfrm>
          <a:prstGeom prst="line">
            <a:avLst/>
          </a:prstGeom>
          <a:noFill/>
          <a:ln w="25400">
            <a:solidFill>
              <a:srgbClr val="FF9900"/>
            </a:solidFill>
            <a:prstDash val="solid"/>
            <a:tailEnd type="arrow"/>
          </a:ln>
        </p:spPr>
        <p:txBody>
          <a:bodyPr/>
          <a:lstStyle/>
          <a:p>
            <a:endParaRPr lang="en-IN"/>
          </a:p>
        </p:txBody>
      </p:sp>
      <p:sp>
        <p:nvSpPr>
          <p:cNvPr id="18" name="Shape 13"/>
          <p:cNvSpPr/>
          <p:nvPr/>
        </p:nvSpPr>
        <p:spPr>
          <a:xfrm>
            <a:off x="3739896" y="1737360"/>
            <a:ext cx="1572768" cy="13716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9" name="Shape 14"/>
          <p:cNvSpPr/>
          <p:nvPr/>
        </p:nvSpPr>
        <p:spPr>
          <a:xfrm>
            <a:off x="4233672" y="1792224"/>
            <a:ext cx="585216" cy="585216"/>
          </a:xfrm>
          <a:prstGeom prst="line">
            <a:avLst/>
          </a:prstGeom>
          <a:solidFill>
            <a:srgbClr val="14B8A6"/>
          </a:solidFill>
          <a:ln w="12700">
            <a:solidFill>
              <a:srgbClr val="14B8A6"/>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4350715" y="1909267"/>
            <a:ext cx="351130" cy="351130"/>
          </a:xfrm>
          <a:prstGeom prst="rect">
            <a:avLst/>
          </a:prstGeom>
        </p:spPr>
      </p:pic>
      <p:sp>
        <p:nvSpPr>
          <p:cNvPr id="21" name="Text 15"/>
          <p:cNvSpPr/>
          <p:nvPr/>
        </p:nvSpPr>
        <p:spPr>
          <a:xfrm>
            <a:off x="3739896" y="2487168"/>
            <a:ext cx="1572768" cy="5029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Medical</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Records</a:t>
            </a:r>
            <a:endParaRPr lang="en-US" sz="1100" dirty="0"/>
          </a:p>
        </p:txBody>
      </p:sp>
      <p:sp>
        <p:nvSpPr>
          <p:cNvPr id="22" name="Shape 16"/>
          <p:cNvSpPr/>
          <p:nvPr/>
        </p:nvSpPr>
        <p:spPr>
          <a:xfrm>
            <a:off x="5312664" y="2423160"/>
            <a:ext cx="137160" cy="0"/>
          </a:xfrm>
          <a:prstGeom prst="line">
            <a:avLst/>
          </a:prstGeom>
          <a:noFill/>
          <a:ln w="25400">
            <a:solidFill>
              <a:srgbClr val="FF9900"/>
            </a:solidFill>
            <a:prstDash val="solid"/>
            <a:tailEnd type="arrow"/>
          </a:ln>
        </p:spPr>
        <p:txBody>
          <a:bodyPr/>
          <a:lstStyle/>
          <a:p>
            <a:endParaRPr lang="en-IN"/>
          </a:p>
        </p:txBody>
      </p:sp>
      <p:sp>
        <p:nvSpPr>
          <p:cNvPr id="23" name="Shape 17"/>
          <p:cNvSpPr/>
          <p:nvPr/>
        </p:nvSpPr>
        <p:spPr>
          <a:xfrm>
            <a:off x="5449824" y="1737360"/>
            <a:ext cx="1572768" cy="13716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4" name="Shape 18"/>
          <p:cNvSpPr/>
          <p:nvPr/>
        </p:nvSpPr>
        <p:spPr>
          <a:xfrm>
            <a:off x="5943600" y="1792224"/>
            <a:ext cx="585216" cy="585216"/>
          </a:xfrm>
          <a:prstGeom prst="line">
            <a:avLst/>
          </a:prstGeom>
          <a:solidFill>
            <a:srgbClr val="EAB308"/>
          </a:solidFill>
          <a:ln w="12700">
            <a:solidFill>
              <a:srgbClr val="EAB308"/>
            </a:solidFill>
            <a:prstDash val="solid"/>
          </a:ln>
        </p:spPr>
        <p:txBody>
          <a:bodyPr/>
          <a:lstStyle/>
          <a:p>
            <a:endParaRPr lang="en-IN"/>
          </a:p>
        </p:txBody>
      </p:sp>
      <p:pic>
        <p:nvPicPr>
          <p:cNvPr id="25" name="Image 4" descr="preencoded.png"/>
          <p:cNvPicPr>
            <a:picLocks noChangeAspect="1"/>
          </p:cNvPicPr>
          <p:nvPr/>
        </p:nvPicPr>
        <p:blipFill>
          <a:blip r:embed="rId7"/>
          <a:stretch>
            <a:fillRect/>
          </a:stretch>
        </p:blipFill>
        <p:spPr>
          <a:xfrm>
            <a:off x="6060643" y="1909267"/>
            <a:ext cx="351130" cy="351130"/>
          </a:xfrm>
          <a:prstGeom prst="rect">
            <a:avLst/>
          </a:prstGeom>
        </p:spPr>
      </p:pic>
      <p:sp>
        <p:nvSpPr>
          <p:cNvPr id="26" name="Text 19"/>
          <p:cNvSpPr/>
          <p:nvPr/>
        </p:nvSpPr>
        <p:spPr>
          <a:xfrm>
            <a:off x="5449824" y="2487168"/>
            <a:ext cx="1572768" cy="5029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Automated</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Reminders</a:t>
            </a:r>
            <a:endParaRPr lang="en-US" sz="1100" dirty="0"/>
          </a:p>
        </p:txBody>
      </p:sp>
      <p:sp>
        <p:nvSpPr>
          <p:cNvPr id="27" name="Shape 20"/>
          <p:cNvSpPr/>
          <p:nvPr/>
        </p:nvSpPr>
        <p:spPr>
          <a:xfrm>
            <a:off x="7022592" y="2423160"/>
            <a:ext cx="137160" cy="0"/>
          </a:xfrm>
          <a:prstGeom prst="line">
            <a:avLst/>
          </a:prstGeom>
          <a:noFill/>
          <a:ln w="25400">
            <a:solidFill>
              <a:srgbClr val="FF9900"/>
            </a:solidFill>
            <a:prstDash val="solid"/>
            <a:tailEnd type="arrow"/>
          </a:ln>
        </p:spPr>
        <p:txBody>
          <a:bodyPr/>
          <a:lstStyle/>
          <a:p>
            <a:endParaRPr lang="en-IN"/>
          </a:p>
        </p:txBody>
      </p:sp>
      <p:sp>
        <p:nvSpPr>
          <p:cNvPr id="28" name="Shape 21"/>
          <p:cNvSpPr/>
          <p:nvPr/>
        </p:nvSpPr>
        <p:spPr>
          <a:xfrm>
            <a:off x="7159752" y="1737360"/>
            <a:ext cx="1572768" cy="13716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9" name="Shape 22"/>
          <p:cNvSpPr/>
          <p:nvPr/>
        </p:nvSpPr>
        <p:spPr>
          <a:xfrm>
            <a:off x="7653528" y="1792224"/>
            <a:ext cx="585216" cy="585216"/>
          </a:xfrm>
          <a:prstGeom prst="line">
            <a:avLst/>
          </a:prstGeom>
          <a:solidFill>
            <a:srgbClr val="EF4444"/>
          </a:solidFill>
          <a:ln w="12700">
            <a:solidFill>
              <a:srgbClr val="EF4444"/>
            </a:solidFill>
            <a:prstDash val="solid"/>
          </a:ln>
        </p:spPr>
        <p:txBody>
          <a:bodyPr/>
          <a:lstStyle/>
          <a:p>
            <a:endParaRPr lang="en-IN"/>
          </a:p>
        </p:txBody>
      </p:sp>
      <p:pic>
        <p:nvPicPr>
          <p:cNvPr id="30" name="Image 5" descr="preencoded.png"/>
          <p:cNvPicPr>
            <a:picLocks noChangeAspect="1"/>
          </p:cNvPicPr>
          <p:nvPr/>
        </p:nvPicPr>
        <p:blipFill>
          <a:blip r:embed="rId8"/>
          <a:stretch>
            <a:fillRect/>
          </a:stretch>
        </p:blipFill>
        <p:spPr>
          <a:xfrm>
            <a:off x="7770571" y="1909267"/>
            <a:ext cx="351130" cy="351130"/>
          </a:xfrm>
          <a:prstGeom prst="rect">
            <a:avLst/>
          </a:prstGeom>
        </p:spPr>
      </p:pic>
      <p:sp>
        <p:nvSpPr>
          <p:cNvPr id="31" name="Text 23"/>
          <p:cNvSpPr/>
          <p:nvPr/>
        </p:nvSpPr>
        <p:spPr>
          <a:xfrm>
            <a:off x="7159752" y="2487168"/>
            <a:ext cx="1572768" cy="5029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Secure</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Deployment</a:t>
            </a:r>
            <a:endParaRPr lang="en-US" sz="1100" dirty="0"/>
          </a:p>
        </p:txBody>
      </p:sp>
      <p:sp>
        <p:nvSpPr>
          <p:cNvPr id="32" name="Shape 24"/>
          <p:cNvSpPr/>
          <p:nvPr/>
        </p:nvSpPr>
        <p:spPr>
          <a:xfrm>
            <a:off x="320040" y="3246120"/>
            <a:ext cx="4114800" cy="1554480"/>
          </a:xfrm>
          <a:prstGeom prst="rect">
            <a:avLst/>
          </a:prstGeom>
          <a:solidFill>
            <a:srgbClr val="1A2C42"/>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33" name="Image 6" descr="preencoded.png"/>
          <p:cNvPicPr>
            <a:picLocks noChangeAspect="1"/>
          </p:cNvPicPr>
          <p:nvPr/>
        </p:nvPicPr>
        <p:blipFill>
          <a:blip r:embed="rId9"/>
          <a:stretch>
            <a:fillRect/>
          </a:stretch>
        </p:blipFill>
        <p:spPr>
          <a:xfrm>
            <a:off x="502920" y="3364992"/>
            <a:ext cx="502920" cy="502920"/>
          </a:xfrm>
          <a:prstGeom prst="rect">
            <a:avLst/>
          </a:prstGeom>
        </p:spPr>
      </p:pic>
      <p:sp>
        <p:nvSpPr>
          <p:cNvPr id="34" name="Text 25"/>
          <p:cNvSpPr/>
          <p:nvPr/>
        </p:nvSpPr>
        <p:spPr>
          <a:xfrm>
            <a:off x="1078992" y="3337560"/>
            <a:ext cx="3200400" cy="347472"/>
          </a:xfrm>
          <a:prstGeom prst="rect">
            <a:avLst/>
          </a:prstGeom>
          <a:noFill/>
          <a:ln/>
        </p:spPr>
        <p:txBody>
          <a:bodyPr wrap="square" lIns="0" tIns="0" rIns="0" bIns="0" rtlCol="0" anchor="ctr"/>
          <a:lstStyle/>
          <a:p>
            <a:pPr marL="0" indent="0">
              <a:buNone/>
            </a:pPr>
            <a:r>
              <a:rPr lang="en-US" sz="1500" b="1" dirty="0">
                <a:solidFill>
                  <a:srgbClr val="FF9900"/>
                </a:solidFill>
                <a:latin typeface="Cambria" pitchFamily="34" charset="0"/>
                <a:ea typeface="Cambria" pitchFamily="34" charset="-122"/>
                <a:cs typeface="Cambria" pitchFamily="34" charset="-120"/>
              </a:rPr>
              <a:t>AWS Cloud</a:t>
            </a:r>
            <a:endParaRPr lang="en-US" sz="1500" dirty="0"/>
          </a:p>
        </p:txBody>
      </p:sp>
      <p:sp>
        <p:nvSpPr>
          <p:cNvPr id="35" name="Text 26"/>
          <p:cNvSpPr/>
          <p:nvPr/>
        </p:nvSpPr>
        <p:spPr>
          <a:xfrm>
            <a:off x="548640" y="3730752"/>
            <a:ext cx="3749040" cy="914400"/>
          </a:xfrm>
          <a:prstGeom prst="rect">
            <a:avLst/>
          </a:prstGeom>
          <a:noFill/>
          <a:ln/>
        </p:spPr>
        <p:txBody>
          <a:bodyPr wrap="square" lIns="0" tIns="0" rIns="0" bIns="0" rtlCol="0" anchor="ctr"/>
          <a:lstStyle/>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15+ managed services</a:t>
            </a:r>
            <a:endParaRPr lang="en-US" sz="1100" dirty="0"/>
          </a:p>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Multi-AZ high availability</a:t>
            </a:r>
            <a:endParaRPr lang="en-US" sz="1100" dirty="0"/>
          </a:p>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Built-in security controls</a:t>
            </a:r>
            <a:endParaRPr lang="en-US" sz="1100" dirty="0"/>
          </a:p>
        </p:txBody>
      </p:sp>
      <p:sp>
        <p:nvSpPr>
          <p:cNvPr id="36" name="Shape 27"/>
          <p:cNvSpPr/>
          <p:nvPr/>
        </p:nvSpPr>
        <p:spPr>
          <a:xfrm>
            <a:off x="4709160" y="3246120"/>
            <a:ext cx="4114800" cy="1554480"/>
          </a:xfrm>
          <a:prstGeom prst="rect">
            <a:avLst/>
          </a:prstGeom>
          <a:solidFill>
            <a:srgbClr val="F5F0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37" name="Image 7" descr="preencoded.png"/>
          <p:cNvPicPr>
            <a:picLocks noChangeAspect="1"/>
          </p:cNvPicPr>
          <p:nvPr/>
        </p:nvPicPr>
        <p:blipFill>
          <a:blip r:embed="rId10"/>
          <a:stretch>
            <a:fillRect/>
          </a:stretch>
        </p:blipFill>
        <p:spPr>
          <a:xfrm>
            <a:off x="4892040" y="3364992"/>
            <a:ext cx="502920" cy="502920"/>
          </a:xfrm>
          <a:prstGeom prst="rect">
            <a:avLst/>
          </a:prstGeom>
        </p:spPr>
      </p:pic>
      <p:sp>
        <p:nvSpPr>
          <p:cNvPr id="38" name="Text 28"/>
          <p:cNvSpPr/>
          <p:nvPr/>
        </p:nvSpPr>
        <p:spPr>
          <a:xfrm>
            <a:off x="5486400" y="3337560"/>
            <a:ext cx="3200400" cy="347472"/>
          </a:xfrm>
          <a:prstGeom prst="rect">
            <a:avLst/>
          </a:prstGeom>
          <a:noFill/>
          <a:ln/>
        </p:spPr>
        <p:txBody>
          <a:bodyPr wrap="square" lIns="0" tIns="0" rIns="0" bIns="0" rtlCol="0" anchor="ctr"/>
          <a:lstStyle/>
          <a:p>
            <a:pPr marL="0" indent="0">
              <a:buNone/>
            </a:pPr>
            <a:r>
              <a:rPr lang="en-US" sz="1500" b="1" dirty="0">
                <a:solidFill>
                  <a:srgbClr val="7C3AED"/>
                </a:solidFill>
                <a:latin typeface="Cambria" pitchFamily="34" charset="0"/>
                <a:ea typeface="Cambria" pitchFamily="34" charset="-122"/>
                <a:cs typeface="Cambria" pitchFamily="34" charset="-120"/>
              </a:rPr>
              <a:t>Terraform IaC</a:t>
            </a:r>
            <a:endParaRPr lang="en-US" sz="1500" dirty="0"/>
          </a:p>
        </p:txBody>
      </p:sp>
      <p:sp>
        <p:nvSpPr>
          <p:cNvPr id="39" name="Text 29"/>
          <p:cNvSpPr/>
          <p:nvPr/>
        </p:nvSpPr>
        <p:spPr>
          <a:xfrm>
            <a:off x="4800600" y="3730752"/>
            <a:ext cx="3840480" cy="91440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15 reusable modules</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Automated provisioning</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Remote state with S3 + DynamoDB</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System Features</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Core capabilities of the CareSync platform</a:t>
            </a:r>
            <a:endParaRPr lang="en-US" sz="1100" dirty="0"/>
          </a:p>
        </p:txBody>
      </p:sp>
      <p:sp>
        <p:nvSpPr>
          <p:cNvPr id="5" name="Shape 3"/>
          <p:cNvSpPr/>
          <p:nvPr/>
        </p:nvSpPr>
        <p:spPr>
          <a:xfrm>
            <a:off x="320040" y="96012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6" name="Shape 4"/>
          <p:cNvSpPr/>
          <p:nvPr/>
        </p:nvSpPr>
        <p:spPr>
          <a:xfrm>
            <a:off x="393192" y="1042416"/>
            <a:ext cx="512064" cy="512064"/>
          </a:xfrm>
          <a:prstGeom prst="line">
            <a:avLst/>
          </a:prstGeom>
          <a:solidFill>
            <a:srgbClr val="0073BB"/>
          </a:solidFill>
          <a:ln w="12700">
            <a:solidFill>
              <a:srgbClr val="0073BB"/>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495605" y="1144829"/>
            <a:ext cx="307238" cy="307238"/>
          </a:xfrm>
          <a:prstGeom prst="rect">
            <a:avLst/>
          </a:prstGeom>
        </p:spPr>
      </p:pic>
      <p:sp>
        <p:nvSpPr>
          <p:cNvPr id="8" name="Text 5"/>
          <p:cNvSpPr/>
          <p:nvPr/>
        </p:nvSpPr>
        <p:spPr>
          <a:xfrm>
            <a:off x="1005840" y="109728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Patient Registration</a:t>
            </a:r>
            <a:endParaRPr lang="en-US" sz="1100" dirty="0"/>
          </a:p>
        </p:txBody>
      </p:sp>
      <p:sp>
        <p:nvSpPr>
          <p:cNvPr id="9" name="Text 6"/>
          <p:cNvSpPr/>
          <p:nvPr/>
        </p:nvSpPr>
        <p:spPr>
          <a:xfrm>
            <a:off x="411480" y="150876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Secure sign-up with JWT authentication</a:t>
            </a:r>
            <a:endParaRPr lang="en-US" sz="1000" dirty="0"/>
          </a:p>
        </p:txBody>
      </p:sp>
      <p:sp>
        <p:nvSpPr>
          <p:cNvPr id="10" name="Shape 7"/>
          <p:cNvSpPr/>
          <p:nvPr/>
        </p:nvSpPr>
        <p:spPr>
          <a:xfrm>
            <a:off x="2468880" y="96012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1" name="Shape 8"/>
          <p:cNvSpPr/>
          <p:nvPr/>
        </p:nvSpPr>
        <p:spPr>
          <a:xfrm>
            <a:off x="2542032" y="1042416"/>
            <a:ext cx="512064" cy="512064"/>
          </a:xfrm>
          <a:prstGeom prst="line">
            <a:avLst/>
          </a:prstGeom>
          <a:solidFill>
            <a:srgbClr val="22C55E"/>
          </a:solidFill>
          <a:ln w="12700">
            <a:solidFill>
              <a:srgbClr val="22C55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2644445" y="1144829"/>
            <a:ext cx="307238" cy="307238"/>
          </a:xfrm>
          <a:prstGeom prst="rect">
            <a:avLst/>
          </a:prstGeom>
        </p:spPr>
      </p:pic>
      <p:sp>
        <p:nvSpPr>
          <p:cNvPr id="13" name="Text 9"/>
          <p:cNvSpPr/>
          <p:nvPr/>
        </p:nvSpPr>
        <p:spPr>
          <a:xfrm>
            <a:off x="3154680" y="109728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Appointment Booking</a:t>
            </a:r>
            <a:endParaRPr lang="en-US" sz="1100" dirty="0"/>
          </a:p>
        </p:txBody>
      </p:sp>
      <p:sp>
        <p:nvSpPr>
          <p:cNvPr id="14" name="Text 10"/>
          <p:cNvSpPr/>
          <p:nvPr/>
        </p:nvSpPr>
        <p:spPr>
          <a:xfrm>
            <a:off x="2560320" y="150876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Real-time slot selection and confirmation</a:t>
            </a:r>
            <a:endParaRPr lang="en-US" sz="1000" dirty="0"/>
          </a:p>
        </p:txBody>
      </p:sp>
      <p:sp>
        <p:nvSpPr>
          <p:cNvPr id="15" name="Shape 11"/>
          <p:cNvSpPr/>
          <p:nvPr/>
        </p:nvSpPr>
        <p:spPr>
          <a:xfrm>
            <a:off x="4617720" y="96012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6" name="Shape 12"/>
          <p:cNvSpPr/>
          <p:nvPr/>
        </p:nvSpPr>
        <p:spPr>
          <a:xfrm>
            <a:off x="4690872" y="1042416"/>
            <a:ext cx="512064" cy="512064"/>
          </a:xfrm>
          <a:prstGeom prst="line">
            <a:avLst/>
          </a:prstGeom>
          <a:solidFill>
            <a:srgbClr val="F97316"/>
          </a:solidFill>
          <a:ln w="12700">
            <a:solidFill>
              <a:srgbClr val="F9731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4793285" y="1144829"/>
            <a:ext cx="307238" cy="307238"/>
          </a:xfrm>
          <a:prstGeom prst="rect">
            <a:avLst/>
          </a:prstGeom>
        </p:spPr>
      </p:pic>
      <p:sp>
        <p:nvSpPr>
          <p:cNvPr id="18" name="Text 13"/>
          <p:cNvSpPr/>
          <p:nvPr/>
        </p:nvSpPr>
        <p:spPr>
          <a:xfrm>
            <a:off x="5303520" y="109728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Appointment Tracking</a:t>
            </a:r>
            <a:endParaRPr lang="en-US" sz="1100" dirty="0"/>
          </a:p>
        </p:txBody>
      </p:sp>
      <p:sp>
        <p:nvSpPr>
          <p:cNvPr id="19" name="Text 14"/>
          <p:cNvSpPr/>
          <p:nvPr/>
        </p:nvSpPr>
        <p:spPr>
          <a:xfrm>
            <a:off x="4709160" y="150876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View, reschedule, and cancel bookings</a:t>
            </a:r>
            <a:endParaRPr lang="en-US" sz="1000" dirty="0"/>
          </a:p>
        </p:txBody>
      </p:sp>
      <p:sp>
        <p:nvSpPr>
          <p:cNvPr id="20" name="Shape 15"/>
          <p:cNvSpPr/>
          <p:nvPr/>
        </p:nvSpPr>
        <p:spPr>
          <a:xfrm>
            <a:off x="6766560" y="96012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1" name="Shape 16"/>
          <p:cNvSpPr/>
          <p:nvPr/>
        </p:nvSpPr>
        <p:spPr>
          <a:xfrm>
            <a:off x="6839712" y="1042416"/>
            <a:ext cx="512064" cy="512064"/>
          </a:xfrm>
          <a:prstGeom prst="line">
            <a:avLst/>
          </a:prstGeom>
          <a:solidFill>
            <a:srgbClr val="A855F7"/>
          </a:solidFill>
          <a:ln w="12700">
            <a:solidFill>
              <a:srgbClr val="A855F7"/>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6942125" y="1144829"/>
            <a:ext cx="307238" cy="307238"/>
          </a:xfrm>
          <a:prstGeom prst="rect">
            <a:avLst/>
          </a:prstGeom>
        </p:spPr>
      </p:pic>
      <p:sp>
        <p:nvSpPr>
          <p:cNvPr id="23" name="Text 17"/>
          <p:cNvSpPr/>
          <p:nvPr/>
        </p:nvSpPr>
        <p:spPr>
          <a:xfrm>
            <a:off x="7452360" y="109728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Prescription Management</a:t>
            </a:r>
            <a:endParaRPr lang="en-US" sz="1100" dirty="0"/>
          </a:p>
        </p:txBody>
      </p:sp>
      <p:sp>
        <p:nvSpPr>
          <p:cNvPr id="24" name="Text 18"/>
          <p:cNvSpPr/>
          <p:nvPr/>
        </p:nvSpPr>
        <p:spPr>
          <a:xfrm>
            <a:off x="6858000" y="150876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Upload and retrieve prescriptions via S3</a:t>
            </a:r>
            <a:endParaRPr lang="en-US" sz="1000" dirty="0"/>
          </a:p>
        </p:txBody>
      </p:sp>
      <p:sp>
        <p:nvSpPr>
          <p:cNvPr id="25" name="Shape 19"/>
          <p:cNvSpPr/>
          <p:nvPr/>
        </p:nvSpPr>
        <p:spPr>
          <a:xfrm>
            <a:off x="1417320" y="260604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dirty="0"/>
          </a:p>
        </p:txBody>
      </p:sp>
      <p:sp>
        <p:nvSpPr>
          <p:cNvPr id="26" name="Shape 20"/>
          <p:cNvSpPr/>
          <p:nvPr/>
        </p:nvSpPr>
        <p:spPr>
          <a:xfrm>
            <a:off x="1490472" y="2688336"/>
            <a:ext cx="512064" cy="512064"/>
          </a:xfrm>
          <a:prstGeom prst="line">
            <a:avLst/>
          </a:prstGeom>
          <a:solidFill>
            <a:srgbClr val="14B8A6"/>
          </a:solidFill>
          <a:ln w="12700">
            <a:solidFill>
              <a:srgbClr val="14B8A6"/>
            </a:solidFill>
            <a:prstDash val="solid"/>
          </a:ln>
        </p:spPr>
        <p:txBody>
          <a:bodyPr/>
          <a:lstStyle/>
          <a:p>
            <a:endParaRPr lang="en-IN"/>
          </a:p>
        </p:txBody>
      </p:sp>
      <p:pic>
        <p:nvPicPr>
          <p:cNvPr id="27" name="Image 4" descr="preencoded.png"/>
          <p:cNvPicPr>
            <a:picLocks noChangeAspect="1"/>
          </p:cNvPicPr>
          <p:nvPr/>
        </p:nvPicPr>
        <p:blipFill>
          <a:blip r:embed="rId7"/>
          <a:stretch>
            <a:fillRect/>
          </a:stretch>
        </p:blipFill>
        <p:spPr>
          <a:xfrm>
            <a:off x="1592885" y="2790749"/>
            <a:ext cx="307238" cy="307238"/>
          </a:xfrm>
          <a:prstGeom prst="rect">
            <a:avLst/>
          </a:prstGeom>
        </p:spPr>
      </p:pic>
      <p:sp>
        <p:nvSpPr>
          <p:cNvPr id="28" name="Text 21"/>
          <p:cNvSpPr/>
          <p:nvPr/>
        </p:nvSpPr>
        <p:spPr>
          <a:xfrm>
            <a:off x="2103120" y="274320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Medical Report Upload</a:t>
            </a:r>
            <a:endParaRPr lang="en-US" sz="1100" dirty="0"/>
          </a:p>
        </p:txBody>
      </p:sp>
      <p:sp>
        <p:nvSpPr>
          <p:cNvPr id="29" name="Text 22"/>
          <p:cNvSpPr/>
          <p:nvPr/>
        </p:nvSpPr>
        <p:spPr>
          <a:xfrm>
            <a:off x="1508760" y="315468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KMS-encrypted document storage on S3</a:t>
            </a:r>
            <a:endParaRPr lang="en-US" sz="1000" dirty="0"/>
          </a:p>
        </p:txBody>
      </p:sp>
      <p:sp>
        <p:nvSpPr>
          <p:cNvPr id="30" name="Shape 23"/>
          <p:cNvSpPr/>
          <p:nvPr/>
        </p:nvSpPr>
        <p:spPr>
          <a:xfrm>
            <a:off x="3566160" y="260604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1" name="Shape 24"/>
          <p:cNvSpPr/>
          <p:nvPr/>
        </p:nvSpPr>
        <p:spPr>
          <a:xfrm>
            <a:off x="3639312" y="2688336"/>
            <a:ext cx="512064" cy="512064"/>
          </a:xfrm>
          <a:prstGeom prst="line">
            <a:avLst/>
          </a:prstGeom>
          <a:solidFill>
            <a:srgbClr val="EAB308"/>
          </a:solidFill>
          <a:ln w="12700">
            <a:solidFill>
              <a:srgbClr val="EAB308"/>
            </a:solidFill>
            <a:prstDash val="solid"/>
          </a:ln>
        </p:spPr>
        <p:txBody>
          <a:bodyPr/>
          <a:lstStyle/>
          <a:p>
            <a:endParaRPr lang="en-IN"/>
          </a:p>
        </p:txBody>
      </p:sp>
      <p:pic>
        <p:nvPicPr>
          <p:cNvPr id="32" name="Image 5" descr="preencoded.png"/>
          <p:cNvPicPr>
            <a:picLocks noChangeAspect="1"/>
          </p:cNvPicPr>
          <p:nvPr/>
        </p:nvPicPr>
        <p:blipFill>
          <a:blip r:embed="rId8"/>
          <a:stretch>
            <a:fillRect/>
          </a:stretch>
        </p:blipFill>
        <p:spPr>
          <a:xfrm>
            <a:off x="3741725" y="2790749"/>
            <a:ext cx="307238" cy="307238"/>
          </a:xfrm>
          <a:prstGeom prst="rect">
            <a:avLst/>
          </a:prstGeom>
        </p:spPr>
      </p:pic>
      <p:sp>
        <p:nvSpPr>
          <p:cNvPr id="33" name="Text 25"/>
          <p:cNvSpPr/>
          <p:nvPr/>
        </p:nvSpPr>
        <p:spPr>
          <a:xfrm>
            <a:off x="4251960" y="274320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Appointment Reminders</a:t>
            </a:r>
            <a:endParaRPr lang="en-US" sz="1100" dirty="0"/>
          </a:p>
        </p:txBody>
      </p:sp>
      <p:sp>
        <p:nvSpPr>
          <p:cNvPr id="34" name="Text 26"/>
          <p:cNvSpPr/>
          <p:nvPr/>
        </p:nvSpPr>
        <p:spPr>
          <a:xfrm>
            <a:off x="3657600" y="315468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Lambda + SNS automated patient notifications</a:t>
            </a:r>
            <a:endParaRPr lang="en-US" sz="1000" dirty="0"/>
          </a:p>
        </p:txBody>
      </p:sp>
      <p:sp>
        <p:nvSpPr>
          <p:cNvPr id="35" name="Shape 27"/>
          <p:cNvSpPr/>
          <p:nvPr/>
        </p:nvSpPr>
        <p:spPr>
          <a:xfrm>
            <a:off x="5715000" y="2606040"/>
            <a:ext cx="2011680" cy="14630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6" name="Shape 28"/>
          <p:cNvSpPr/>
          <p:nvPr/>
        </p:nvSpPr>
        <p:spPr>
          <a:xfrm>
            <a:off x="5788152" y="2688336"/>
            <a:ext cx="512064" cy="512064"/>
          </a:xfrm>
          <a:prstGeom prst="line">
            <a:avLst/>
          </a:prstGeom>
          <a:solidFill>
            <a:srgbClr val="EF4444"/>
          </a:solidFill>
          <a:ln w="12700">
            <a:solidFill>
              <a:srgbClr val="EF4444"/>
            </a:solidFill>
            <a:prstDash val="solid"/>
          </a:ln>
        </p:spPr>
        <p:txBody>
          <a:bodyPr/>
          <a:lstStyle/>
          <a:p>
            <a:endParaRPr lang="en-IN"/>
          </a:p>
        </p:txBody>
      </p:sp>
      <p:pic>
        <p:nvPicPr>
          <p:cNvPr id="37" name="Image 6" descr="preencoded.png"/>
          <p:cNvPicPr>
            <a:picLocks noChangeAspect="1"/>
          </p:cNvPicPr>
          <p:nvPr/>
        </p:nvPicPr>
        <p:blipFill>
          <a:blip r:embed="rId9"/>
          <a:stretch>
            <a:fillRect/>
          </a:stretch>
        </p:blipFill>
        <p:spPr>
          <a:xfrm>
            <a:off x="5890565" y="2790749"/>
            <a:ext cx="307238" cy="307238"/>
          </a:xfrm>
          <a:prstGeom prst="rect">
            <a:avLst/>
          </a:prstGeom>
        </p:spPr>
      </p:pic>
      <p:sp>
        <p:nvSpPr>
          <p:cNvPr id="38" name="Text 29"/>
          <p:cNvSpPr/>
          <p:nvPr/>
        </p:nvSpPr>
        <p:spPr>
          <a:xfrm>
            <a:off x="6400800" y="2743200"/>
            <a:ext cx="1234440" cy="38404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Notification Cleanup</a:t>
            </a:r>
            <a:endParaRPr lang="en-US" sz="1100" dirty="0"/>
          </a:p>
        </p:txBody>
      </p:sp>
      <p:sp>
        <p:nvSpPr>
          <p:cNvPr id="39" name="Text 30"/>
          <p:cNvSpPr/>
          <p:nvPr/>
        </p:nvSpPr>
        <p:spPr>
          <a:xfrm>
            <a:off x="5806440" y="3154680"/>
            <a:ext cx="178308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EventBridge scheduler purges stale records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Technology Stack</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Frontend, Backend, Database, and Infrastructure</a:t>
            </a:r>
            <a:endParaRPr lang="en-US" sz="1100" dirty="0"/>
          </a:p>
        </p:txBody>
      </p:sp>
      <p:sp>
        <p:nvSpPr>
          <p:cNvPr id="5" name="Shape 3"/>
          <p:cNvSpPr/>
          <p:nvPr/>
        </p:nvSpPr>
        <p:spPr>
          <a:xfrm>
            <a:off x="274320" y="960120"/>
            <a:ext cx="1600200" cy="475488"/>
          </a:xfrm>
          <a:prstGeom prst="rect">
            <a:avLst/>
          </a:prstGeom>
          <a:solidFill>
            <a:srgbClr val="3B82F6"/>
          </a:solidFill>
          <a:ln w="12700">
            <a:solidFill>
              <a:srgbClr val="3B82F6"/>
            </a:solidFill>
            <a:prstDash val="solid"/>
          </a:ln>
        </p:spPr>
        <p:txBody>
          <a:bodyPr/>
          <a:lstStyle/>
          <a:p>
            <a:endParaRPr lang="en-IN"/>
          </a:p>
        </p:txBody>
      </p:sp>
      <p:sp>
        <p:nvSpPr>
          <p:cNvPr id="6" name="Text 4"/>
          <p:cNvSpPr/>
          <p:nvPr/>
        </p:nvSpPr>
        <p:spPr>
          <a:xfrm>
            <a:off x="274320" y="960120"/>
            <a:ext cx="16002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7" name="Shape 5"/>
          <p:cNvSpPr/>
          <p:nvPr/>
        </p:nvSpPr>
        <p:spPr>
          <a:xfrm>
            <a:off x="274320" y="1435608"/>
            <a:ext cx="1600200" cy="32918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777240" y="1572768"/>
            <a:ext cx="594360" cy="594360"/>
          </a:xfrm>
          <a:prstGeom prst="rect">
            <a:avLst/>
          </a:prstGeom>
        </p:spPr>
      </p:pic>
      <p:sp>
        <p:nvSpPr>
          <p:cNvPr id="9" name="Text 6"/>
          <p:cNvSpPr/>
          <p:nvPr/>
        </p:nvSpPr>
        <p:spPr>
          <a:xfrm>
            <a:off x="347472" y="2304288"/>
            <a:ext cx="1463040" cy="475488"/>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React</a:t>
            </a:r>
            <a:endParaRPr lang="en-US" sz="1200" dirty="0"/>
          </a:p>
        </p:txBody>
      </p:sp>
      <p:sp>
        <p:nvSpPr>
          <p:cNvPr id="10" name="Shape 7"/>
          <p:cNvSpPr/>
          <p:nvPr/>
        </p:nvSpPr>
        <p:spPr>
          <a:xfrm>
            <a:off x="457200" y="2816352"/>
            <a:ext cx="1234440" cy="0"/>
          </a:xfrm>
          <a:prstGeom prst="line">
            <a:avLst/>
          </a:prstGeom>
          <a:noFill/>
          <a:ln w="6350">
            <a:solidFill>
              <a:srgbClr val="E8EEF4"/>
            </a:solidFill>
            <a:prstDash val="solid"/>
          </a:ln>
        </p:spPr>
        <p:txBody>
          <a:bodyPr/>
          <a:lstStyle/>
          <a:p>
            <a:endParaRPr lang="en-IN"/>
          </a:p>
        </p:txBody>
      </p:sp>
      <p:sp>
        <p:nvSpPr>
          <p:cNvPr id="11" name="Text 8"/>
          <p:cNvSpPr/>
          <p:nvPr/>
        </p:nvSpPr>
        <p:spPr>
          <a:xfrm>
            <a:off x="347472" y="287121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Vite</a:t>
            </a:r>
            <a:endParaRPr lang="en-US" sz="1200" dirty="0"/>
          </a:p>
        </p:txBody>
      </p:sp>
      <p:sp>
        <p:nvSpPr>
          <p:cNvPr id="12" name="Shape 9"/>
          <p:cNvSpPr/>
          <p:nvPr/>
        </p:nvSpPr>
        <p:spPr>
          <a:xfrm>
            <a:off x="457200" y="3383280"/>
            <a:ext cx="1234440" cy="0"/>
          </a:xfrm>
          <a:prstGeom prst="line">
            <a:avLst/>
          </a:prstGeom>
          <a:noFill/>
          <a:ln w="6350">
            <a:solidFill>
              <a:srgbClr val="E8EEF4"/>
            </a:solidFill>
            <a:prstDash val="solid"/>
          </a:ln>
        </p:spPr>
        <p:txBody>
          <a:bodyPr/>
          <a:lstStyle/>
          <a:p>
            <a:endParaRPr lang="en-IN"/>
          </a:p>
        </p:txBody>
      </p:sp>
      <p:sp>
        <p:nvSpPr>
          <p:cNvPr id="13" name="Text 10"/>
          <p:cNvSpPr/>
          <p:nvPr/>
        </p:nvSpPr>
        <p:spPr>
          <a:xfrm>
            <a:off x="347472" y="3438144"/>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JavaScript</a:t>
            </a:r>
            <a:endParaRPr lang="en-US" sz="1200" dirty="0"/>
          </a:p>
        </p:txBody>
      </p:sp>
      <p:sp>
        <p:nvSpPr>
          <p:cNvPr id="14" name="Shape 11"/>
          <p:cNvSpPr/>
          <p:nvPr/>
        </p:nvSpPr>
        <p:spPr>
          <a:xfrm>
            <a:off x="2011680" y="960120"/>
            <a:ext cx="1600200" cy="475488"/>
          </a:xfrm>
          <a:prstGeom prst="rect">
            <a:avLst/>
          </a:prstGeom>
          <a:solidFill>
            <a:srgbClr val="F97316"/>
          </a:solidFill>
          <a:ln w="12700">
            <a:solidFill>
              <a:srgbClr val="F97316"/>
            </a:solidFill>
            <a:prstDash val="solid"/>
          </a:ln>
        </p:spPr>
        <p:txBody>
          <a:bodyPr/>
          <a:lstStyle/>
          <a:p>
            <a:endParaRPr lang="en-IN"/>
          </a:p>
        </p:txBody>
      </p:sp>
      <p:sp>
        <p:nvSpPr>
          <p:cNvPr id="15" name="Text 12"/>
          <p:cNvSpPr/>
          <p:nvPr/>
        </p:nvSpPr>
        <p:spPr>
          <a:xfrm>
            <a:off x="2011680" y="960120"/>
            <a:ext cx="16002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16" name="Shape 13"/>
          <p:cNvSpPr/>
          <p:nvPr/>
        </p:nvSpPr>
        <p:spPr>
          <a:xfrm>
            <a:off x="2011680" y="1435608"/>
            <a:ext cx="1600200" cy="32918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17" name="Image 1" descr="preencoded.png"/>
          <p:cNvPicPr>
            <a:picLocks noChangeAspect="1"/>
          </p:cNvPicPr>
          <p:nvPr/>
        </p:nvPicPr>
        <p:blipFill>
          <a:blip r:embed="rId4"/>
          <a:stretch>
            <a:fillRect/>
          </a:stretch>
        </p:blipFill>
        <p:spPr>
          <a:xfrm>
            <a:off x="2514600" y="1572768"/>
            <a:ext cx="594360" cy="594360"/>
          </a:xfrm>
          <a:prstGeom prst="rect">
            <a:avLst/>
          </a:prstGeom>
        </p:spPr>
      </p:pic>
      <p:sp>
        <p:nvSpPr>
          <p:cNvPr id="18" name="Text 14"/>
          <p:cNvSpPr/>
          <p:nvPr/>
        </p:nvSpPr>
        <p:spPr>
          <a:xfrm>
            <a:off x="2084832" y="2304288"/>
            <a:ext cx="1463040" cy="475488"/>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Node.js</a:t>
            </a:r>
            <a:endParaRPr lang="en-US" sz="1200" dirty="0"/>
          </a:p>
        </p:txBody>
      </p:sp>
      <p:sp>
        <p:nvSpPr>
          <p:cNvPr id="19" name="Shape 15"/>
          <p:cNvSpPr/>
          <p:nvPr/>
        </p:nvSpPr>
        <p:spPr>
          <a:xfrm>
            <a:off x="2194560" y="2816352"/>
            <a:ext cx="1234440" cy="0"/>
          </a:xfrm>
          <a:prstGeom prst="line">
            <a:avLst/>
          </a:prstGeom>
          <a:noFill/>
          <a:ln w="6350">
            <a:solidFill>
              <a:srgbClr val="E8EEF4"/>
            </a:solidFill>
            <a:prstDash val="solid"/>
          </a:ln>
        </p:spPr>
        <p:txBody>
          <a:bodyPr/>
          <a:lstStyle/>
          <a:p>
            <a:endParaRPr lang="en-IN"/>
          </a:p>
        </p:txBody>
      </p:sp>
      <p:sp>
        <p:nvSpPr>
          <p:cNvPr id="20" name="Text 16"/>
          <p:cNvSpPr/>
          <p:nvPr/>
        </p:nvSpPr>
        <p:spPr>
          <a:xfrm>
            <a:off x="2084832" y="287121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Express.js</a:t>
            </a:r>
            <a:endParaRPr lang="en-US" sz="1200" dirty="0"/>
          </a:p>
        </p:txBody>
      </p:sp>
      <p:sp>
        <p:nvSpPr>
          <p:cNvPr id="21" name="Shape 17"/>
          <p:cNvSpPr/>
          <p:nvPr/>
        </p:nvSpPr>
        <p:spPr>
          <a:xfrm>
            <a:off x="2194560" y="3383280"/>
            <a:ext cx="1234440" cy="0"/>
          </a:xfrm>
          <a:prstGeom prst="line">
            <a:avLst/>
          </a:prstGeom>
          <a:noFill/>
          <a:ln w="6350">
            <a:solidFill>
              <a:srgbClr val="E8EEF4"/>
            </a:solidFill>
            <a:prstDash val="solid"/>
          </a:ln>
        </p:spPr>
        <p:txBody>
          <a:bodyPr/>
          <a:lstStyle/>
          <a:p>
            <a:endParaRPr lang="en-IN"/>
          </a:p>
        </p:txBody>
      </p:sp>
      <p:sp>
        <p:nvSpPr>
          <p:cNvPr id="22" name="Text 18"/>
          <p:cNvSpPr/>
          <p:nvPr/>
        </p:nvSpPr>
        <p:spPr>
          <a:xfrm>
            <a:off x="2084832" y="3438144"/>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REST APIs</a:t>
            </a:r>
            <a:endParaRPr lang="en-US" sz="1200" dirty="0"/>
          </a:p>
        </p:txBody>
      </p:sp>
      <p:sp>
        <p:nvSpPr>
          <p:cNvPr id="23" name="Shape 19"/>
          <p:cNvSpPr/>
          <p:nvPr/>
        </p:nvSpPr>
        <p:spPr>
          <a:xfrm>
            <a:off x="3749040" y="960120"/>
            <a:ext cx="1600200" cy="475488"/>
          </a:xfrm>
          <a:prstGeom prst="rect">
            <a:avLst/>
          </a:prstGeom>
          <a:solidFill>
            <a:srgbClr val="A855F7"/>
          </a:solidFill>
          <a:ln w="12700">
            <a:solidFill>
              <a:srgbClr val="A855F7"/>
            </a:solidFill>
            <a:prstDash val="solid"/>
          </a:ln>
        </p:spPr>
        <p:txBody>
          <a:bodyPr/>
          <a:lstStyle/>
          <a:p>
            <a:endParaRPr lang="en-IN"/>
          </a:p>
        </p:txBody>
      </p:sp>
      <p:sp>
        <p:nvSpPr>
          <p:cNvPr id="24" name="Text 20"/>
          <p:cNvSpPr/>
          <p:nvPr/>
        </p:nvSpPr>
        <p:spPr>
          <a:xfrm>
            <a:off x="3749040" y="960120"/>
            <a:ext cx="16002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25" name="Shape 21"/>
          <p:cNvSpPr/>
          <p:nvPr/>
        </p:nvSpPr>
        <p:spPr>
          <a:xfrm>
            <a:off x="3749040" y="1435608"/>
            <a:ext cx="1600200" cy="32918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26" name="Image 2" descr="preencoded.png"/>
          <p:cNvPicPr>
            <a:picLocks noChangeAspect="1"/>
          </p:cNvPicPr>
          <p:nvPr/>
        </p:nvPicPr>
        <p:blipFill>
          <a:blip r:embed="rId5"/>
          <a:stretch>
            <a:fillRect/>
          </a:stretch>
        </p:blipFill>
        <p:spPr>
          <a:xfrm>
            <a:off x="4251960" y="1572768"/>
            <a:ext cx="594360" cy="594360"/>
          </a:xfrm>
          <a:prstGeom prst="rect">
            <a:avLst/>
          </a:prstGeom>
        </p:spPr>
      </p:pic>
      <p:sp>
        <p:nvSpPr>
          <p:cNvPr id="27" name="Text 22"/>
          <p:cNvSpPr/>
          <p:nvPr/>
        </p:nvSpPr>
        <p:spPr>
          <a:xfrm>
            <a:off x="3822192" y="2304288"/>
            <a:ext cx="1463040" cy="475488"/>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PostgreSQL</a:t>
            </a:r>
            <a:endParaRPr lang="en-US" sz="1200" dirty="0"/>
          </a:p>
        </p:txBody>
      </p:sp>
      <p:sp>
        <p:nvSpPr>
          <p:cNvPr id="28" name="Shape 23"/>
          <p:cNvSpPr/>
          <p:nvPr/>
        </p:nvSpPr>
        <p:spPr>
          <a:xfrm>
            <a:off x="3931920" y="2816352"/>
            <a:ext cx="1234440" cy="0"/>
          </a:xfrm>
          <a:prstGeom prst="line">
            <a:avLst/>
          </a:prstGeom>
          <a:noFill/>
          <a:ln w="6350">
            <a:solidFill>
              <a:srgbClr val="E8EEF4"/>
            </a:solidFill>
            <a:prstDash val="solid"/>
          </a:ln>
        </p:spPr>
        <p:txBody>
          <a:bodyPr/>
          <a:lstStyle/>
          <a:p>
            <a:endParaRPr lang="en-IN"/>
          </a:p>
        </p:txBody>
      </p:sp>
      <p:sp>
        <p:nvSpPr>
          <p:cNvPr id="29" name="Text 24"/>
          <p:cNvSpPr/>
          <p:nvPr/>
        </p:nvSpPr>
        <p:spPr>
          <a:xfrm>
            <a:off x="3822192" y="287121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Amazon RDS</a:t>
            </a:r>
            <a:endParaRPr lang="en-US" sz="1200" dirty="0"/>
          </a:p>
        </p:txBody>
      </p:sp>
      <p:sp>
        <p:nvSpPr>
          <p:cNvPr id="30" name="Shape 25"/>
          <p:cNvSpPr/>
          <p:nvPr/>
        </p:nvSpPr>
        <p:spPr>
          <a:xfrm>
            <a:off x="3931920" y="3383280"/>
            <a:ext cx="1234440" cy="0"/>
          </a:xfrm>
          <a:prstGeom prst="line">
            <a:avLst/>
          </a:prstGeom>
          <a:noFill/>
          <a:ln w="6350">
            <a:solidFill>
              <a:srgbClr val="E8EEF4"/>
            </a:solidFill>
            <a:prstDash val="solid"/>
          </a:ln>
        </p:spPr>
        <p:txBody>
          <a:bodyPr/>
          <a:lstStyle/>
          <a:p>
            <a:endParaRPr lang="en-IN"/>
          </a:p>
        </p:txBody>
      </p:sp>
      <p:sp>
        <p:nvSpPr>
          <p:cNvPr id="31" name="Text 26"/>
          <p:cNvSpPr/>
          <p:nvPr/>
        </p:nvSpPr>
        <p:spPr>
          <a:xfrm>
            <a:off x="3822192" y="3438144"/>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Multi-AZ</a:t>
            </a:r>
            <a:endParaRPr lang="en-US" sz="1200" dirty="0"/>
          </a:p>
        </p:txBody>
      </p:sp>
      <p:sp>
        <p:nvSpPr>
          <p:cNvPr id="32" name="Shape 27"/>
          <p:cNvSpPr/>
          <p:nvPr/>
        </p:nvSpPr>
        <p:spPr>
          <a:xfrm>
            <a:off x="5486400" y="960120"/>
            <a:ext cx="1600200" cy="475488"/>
          </a:xfrm>
          <a:prstGeom prst="rect">
            <a:avLst/>
          </a:prstGeom>
          <a:solidFill>
            <a:srgbClr val="7C3AED"/>
          </a:solidFill>
          <a:ln w="12700">
            <a:solidFill>
              <a:srgbClr val="7C3AED"/>
            </a:solidFill>
            <a:prstDash val="solid"/>
          </a:ln>
        </p:spPr>
        <p:txBody>
          <a:bodyPr/>
          <a:lstStyle/>
          <a:p>
            <a:endParaRPr lang="en-IN"/>
          </a:p>
        </p:txBody>
      </p:sp>
      <p:sp>
        <p:nvSpPr>
          <p:cNvPr id="33" name="Text 28"/>
          <p:cNvSpPr/>
          <p:nvPr/>
        </p:nvSpPr>
        <p:spPr>
          <a:xfrm>
            <a:off x="5486400" y="960120"/>
            <a:ext cx="16002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Infrastructure</a:t>
            </a:r>
            <a:endParaRPr lang="en-US" sz="1200" dirty="0"/>
          </a:p>
        </p:txBody>
      </p:sp>
      <p:sp>
        <p:nvSpPr>
          <p:cNvPr id="34" name="Shape 29"/>
          <p:cNvSpPr/>
          <p:nvPr/>
        </p:nvSpPr>
        <p:spPr>
          <a:xfrm>
            <a:off x="5486400" y="1435608"/>
            <a:ext cx="1600200" cy="32918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35" name="Image 3" descr="preencoded.png"/>
          <p:cNvPicPr>
            <a:picLocks noChangeAspect="1"/>
          </p:cNvPicPr>
          <p:nvPr/>
        </p:nvPicPr>
        <p:blipFill>
          <a:blip r:embed="rId6"/>
          <a:stretch>
            <a:fillRect/>
          </a:stretch>
        </p:blipFill>
        <p:spPr>
          <a:xfrm>
            <a:off x="5989320" y="1572768"/>
            <a:ext cx="594360" cy="594360"/>
          </a:xfrm>
          <a:prstGeom prst="rect">
            <a:avLst/>
          </a:prstGeom>
        </p:spPr>
      </p:pic>
      <p:sp>
        <p:nvSpPr>
          <p:cNvPr id="36" name="Text 30"/>
          <p:cNvSpPr/>
          <p:nvPr/>
        </p:nvSpPr>
        <p:spPr>
          <a:xfrm>
            <a:off x="5559552" y="2304288"/>
            <a:ext cx="1463040" cy="475488"/>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Terraform</a:t>
            </a:r>
            <a:endParaRPr lang="en-US" sz="1200" dirty="0"/>
          </a:p>
        </p:txBody>
      </p:sp>
      <p:sp>
        <p:nvSpPr>
          <p:cNvPr id="37" name="Shape 31"/>
          <p:cNvSpPr/>
          <p:nvPr/>
        </p:nvSpPr>
        <p:spPr>
          <a:xfrm>
            <a:off x="5669280" y="2816352"/>
            <a:ext cx="1234440" cy="0"/>
          </a:xfrm>
          <a:prstGeom prst="line">
            <a:avLst/>
          </a:prstGeom>
          <a:noFill/>
          <a:ln w="6350">
            <a:solidFill>
              <a:srgbClr val="E8EEF4"/>
            </a:solidFill>
            <a:prstDash val="solid"/>
          </a:ln>
        </p:spPr>
        <p:txBody>
          <a:bodyPr/>
          <a:lstStyle/>
          <a:p>
            <a:endParaRPr lang="en-IN"/>
          </a:p>
        </p:txBody>
      </p:sp>
      <p:sp>
        <p:nvSpPr>
          <p:cNvPr id="38" name="Text 32"/>
          <p:cNvSpPr/>
          <p:nvPr/>
        </p:nvSpPr>
        <p:spPr>
          <a:xfrm>
            <a:off x="5559552" y="287121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15 Modules</a:t>
            </a:r>
            <a:endParaRPr lang="en-US" sz="1200" dirty="0"/>
          </a:p>
        </p:txBody>
      </p:sp>
      <p:sp>
        <p:nvSpPr>
          <p:cNvPr id="39" name="Shape 33"/>
          <p:cNvSpPr/>
          <p:nvPr/>
        </p:nvSpPr>
        <p:spPr>
          <a:xfrm>
            <a:off x="5669280" y="3383280"/>
            <a:ext cx="1234440" cy="0"/>
          </a:xfrm>
          <a:prstGeom prst="line">
            <a:avLst/>
          </a:prstGeom>
          <a:noFill/>
          <a:ln w="6350">
            <a:solidFill>
              <a:srgbClr val="E8EEF4"/>
            </a:solidFill>
            <a:prstDash val="solid"/>
          </a:ln>
        </p:spPr>
        <p:txBody>
          <a:bodyPr/>
          <a:lstStyle/>
          <a:p>
            <a:endParaRPr lang="en-IN"/>
          </a:p>
        </p:txBody>
      </p:sp>
      <p:sp>
        <p:nvSpPr>
          <p:cNvPr id="40" name="Text 34"/>
          <p:cNvSpPr/>
          <p:nvPr/>
        </p:nvSpPr>
        <p:spPr>
          <a:xfrm>
            <a:off x="5559552" y="3438144"/>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Remote State</a:t>
            </a:r>
            <a:endParaRPr lang="en-US" sz="1200" dirty="0"/>
          </a:p>
        </p:txBody>
      </p:sp>
      <p:sp>
        <p:nvSpPr>
          <p:cNvPr id="41" name="Shape 35"/>
          <p:cNvSpPr/>
          <p:nvPr/>
        </p:nvSpPr>
        <p:spPr>
          <a:xfrm>
            <a:off x="7223760" y="960120"/>
            <a:ext cx="1600200" cy="475488"/>
          </a:xfrm>
          <a:prstGeom prst="rect">
            <a:avLst/>
          </a:prstGeom>
          <a:solidFill>
            <a:srgbClr val="FF9900"/>
          </a:solidFill>
          <a:ln w="12700">
            <a:solidFill>
              <a:srgbClr val="FF9900"/>
            </a:solidFill>
            <a:prstDash val="solid"/>
          </a:ln>
        </p:spPr>
        <p:txBody>
          <a:bodyPr/>
          <a:lstStyle/>
          <a:p>
            <a:endParaRPr lang="en-IN"/>
          </a:p>
        </p:txBody>
      </p:sp>
      <p:sp>
        <p:nvSpPr>
          <p:cNvPr id="42" name="Text 36"/>
          <p:cNvSpPr/>
          <p:nvPr/>
        </p:nvSpPr>
        <p:spPr>
          <a:xfrm>
            <a:off x="7223760" y="960120"/>
            <a:ext cx="160020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Cloud Platform</a:t>
            </a:r>
            <a:endParaRPr lang="en-US" sz="1200" dirty="0"/>
          </a:p>
        </p:txBody>
      </p:sp>
      <p:sp>
        <p:nvSpPr>
          <p:cNvPr id="43" name="Shape 37"/>
          <p:cNvSpPr/>
          <p:nvPr/>
        </p:nvSpPr>
        <p:spPr>
          <a:xfrm>
            <a:off x="7223760" y="1435608"/>
            <a:ext cx="1600200" cy="32918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44" name="Image 4" descr="preencoded.png"/>
          <p:cNvPicPr>
            <a:picLocks noChangeAspect="1"/>
          </p:cNvPicPr>
          <p:nvPr/>
        </p:nvPicPr>
        <p:blipFill>
          <a:blip r:embed="rId7"/>
          <a:stretch>
            <a:fillRect/>
          </a:stretch>
        </p:blipFill>
        <p:spPr>
          <a:xfrm>
            <a:off x="7726680" y="1572768"/>
            <a:ext cx="594360" cy="594360"/>
          </a:xfrm>
          <a:prstGeom prst="rect">
            <a:avLst/>
          </a:prstGeom>
        </p:spPr>
      </p:pic>
      <p:sp>
        <p:nvSpPr>
          <p:cNvPr id="45" name="Text 38"/>
          <p:cNvSpPr/>
          <p:nvPr/>
        </p:nvSpPr>
        <p:spPr>
          <a:xfrm>
            <a:off x="7296912" y="2304288"/>
            <a:ext cx="1463040" cy="475488"/>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Amazon Web Services</a:t>
            </a:r>
            <a:endParaRPr lang="en-US" sz="1200" dirty="0"/>
          </a:p>
        </p:txBody>
      </p:sp>
      <p:sp>
        <p:nvSpPr>
          <p:cNvPr id="46" name="Shape 39"/>
          <p:cNvSpPr/>
          <p:nvPr/>
        </p:nvSpPr>
        <p:spPr>
          <a:xfrm>
            <a:off x="7406640" y="2816352"/>
            <a:ext cx="1234440" cy="0"/>
          </a:xfrm>
          <a:prstGeom prst="line">
            <a:avLst/>
          </a:prstGeom>
          <a:noFill/>
          <a:ln w="6350">
            <a:solidFill>
              <a:srgbClr val="E8EEF4"/>
            </a:solidFill>
            <a:prstDash val="solid"/>
          </a:ln>
        </p:spPr>
        <p:txBody>
          <a:bodyPr/>
          <a:lstStyle/>
          <a:p>
            <a:endParaRPr lang="en-IN"/>
          </a:p>
        </p:txBody>
      </p:sp>
      <p:sp>
        <p:nvSpPr>
          <p:cNvPr id="47" name="Text 40"/>
          <p:cNvSpPr/>
          <p:nvPr/>
        </p:nvSpPr>
        <p:spPr>
          <a:xfrm>
            <a:off x="7296912" y="287121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15+ Services</a:t>
            </a:r>
            <a:endParaRPr lang="en-US" sz="1200" dirty="0"/>
          </a:p>
        </p:txBody>
      </p:sp>
      <p:sp>
        <p:nvSpPr>
          <p:cNvPr id="48" name="Shape 41"/>
          <p:cNvSpPr/>
          <p:nvPr/>
        </p:nvSpPr>
        <p:spPr>
          <a:xfrm>
            <a:off x="7406640" y="3383280"/>
            <a:ext cx="1234440" cy="0"/>
          </a:xfrm>
          <a:prstGeom prst="line">
            <a:avLst/>
          </a:prstGeom>
          <a:noFill/>
          <a:ln w="6350">
            <a:solidFill>
              <a:srgbClr val="E8EEF4"/>
            </a:solidFill>
            <a:prstDash val="solid"/>
          </a:ln>
        </p:spPr>
        <p:txBody>
          <a:bodyPr/>
          <a:lstStyle/>
          <a:p>
            <a:endParaRPr lang="en-IN"/>
          </a:p>
        </p:txBody>
      </p:sp>
      <p:sp>
        <p:nvSpPr>
          <p:cNvPr id="49" name="Text 42"/>
          <p:cNvSpPr/>
          <p:nvPr/>
        </p:nvSpPr>
        <p:spPr>
          <a:xfrm>
            <a:off x="7296912" y="3438144"/>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us-east-1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High-Level Architecture</a:t>
            </a:r>
            <a:endParaRPr lang="en-US" sz="2600" dirty="0"/>
          </a:p>
        </p:txBody>
      </p:sp>
      <p:pic>
        <p:nvPicPr>
          <p:cNvPr id="66" name="Picture 65">
            <a:extLst>
              <a:ext uri="{FF2B5EF4-FFF2-40B4-BE49-F238E27FC236}">
                <a16:creationId xmlns:a16="http://schemas.microsoft.com/office/drawing/2014/main" id="{E56EB972-22B2-58D9-FA77-2E50843A8F65}"/>
              </a:ext>
            </a:extLst>
          </p:cNvPr>
          <p:cNvPicPr>
            <a:picLocks noChangeAspect="1"/>
          </p:cNvPicPr>
          <p:nvPr/>
        </p:nvPicPr>
        <p:blipFill>
          <a:blip r:embed="rId3"/>
          <a:stretch>
            <a:fillRect/>
          </a:stretch>
        </p:blipFill>
        <p:spPr>
          <a:xfrm>
            <a:off x="7895" y="-33868"/>
            <a:ext cx="9128209"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Terraform Infrastructure as Code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Automated, repeatable, version-controlled provisioning</a:t>
            </a:r>
            <a:endParaRPr lang="en-US" sz="1100" dirty="0"/>
          </a:p>
        </p:txBody>
      </p:sp>
      <p:sp>
        <p:nvSpPr>
          <p:cNvPr id="5" name="Shape 3"/>
          <p:cNvSpPr/>
          <p:nvPr/>
        </p:nvSpPr>
        <p:spPr>
          <a:xfrm>
            <a:off x="320040" y="1005840"/>
            <a:ext cx="4023360" cy="667512"/>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6" name="Shape 4"/>
          <p:cNvSpPr/>
          <p:nvPr/>
        </p:nvSpPr>
        <p:spPr>
          <a:xfrm>
            <a:off x="429768" y="1101852"/>
            <a:ext cx="475488" cy="475488"/>
          </a:xfrm>
          <a:prstGeom prst="line">
            <a:avLst/>
          </a:prstGeom>
          <a:solidFill>
            <a:srgbClr val="F97316"/>
          </a:solidFill>
          <a:ln w="12700">
            <a:solidFill>
              <a:srgbClr val="F97316"/>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24866" y="1196950"/>
            <a:ext cx="285293" cy="285293"/>
          </a:xfrm>
          <a:prstGeom prst="rect">
            <a:avLst/>
          </a:prstGeom>
        </p:spPr>
      </p:pic>
      <p:sp>
        <p:nvSpPr>
          <p:cNvPr id="8" name="Text 5"/>
          <p:cNvSpPr/>
          <p:nvPr/>
        </p:nvSpPr>
        <p:spPr>
          <a:xfrm>
            <a:off x="1005840" y="1060704"/>
            <a:ext cx="32004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Automation</a:t>
            </a:r>
            <a:endParaRPr lang="en-US" sz="1200" dirty="0"/>
          </a:p>
        </p:txBody>
      </p:sp>
      <p:sp>
        <p:nvSpPr>
          <p:cNvPr id="9" name="Text 6"/>
          <p:cNvSpPr/>
          <p:nvPr/>
        </p:nvSpPr>
        <p:spPr>
          <a:xfrm>
            <a:off x="1005840" y="1325880"/>
            <a:ext cx="32004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Full infrastructure deployed with terraform apply</a:t>
            </a:r>
            <a:endParaRPr lang="en-US" sz="1000" dirty="0"/>
          </a:p>
        </p:txBody>
      </p:sp>
      <p:sp>
        <p:nvSpPr>
          <p:cNvPr id="10" name="Shape 7"/>
          <p:cNvSpPr/>
          <p:nvPr/>
        </p:nvSpPr>
        <p:spPr>
          <a:xfrm>
            <a:off x="320040" y="1764792"/>
            <a:ext cx="4023360" cy="667512"/>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1" name="Shape 8"/>
          <p:cNvSpPr/>
          <p:nvPr/>
        </p:nvSpPr>
        <p:spPr>
          <a:xfrm>
            <a:off x="429768" y="1860804"/>
            <a:ext cx="475488" cy="475488"/>
          </a:xfrm>
          <a:prstGeom prst="line">
            <a:avLst/>
          </a:prstGeom>
          <a:solidFill>
            <a:srgbClr val="0073BB"/>
          </a:solidFill>
          <a:ln w="12700">
            <a:solidFill>
              <a:srgbClr val="0073BB"/>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24866" y="1955902"/>
            <a:ext cx="285293" cy="285293"/>
          </a:xfrm>
          <a:prstGeom prst="rect">
            <a:avLst/>
          </a:prstGeom>
        </p:spPr>
      </p:pic>
      <p:sp>
        <p:nvSpPr>
          <p:cNvPr id="13" name="Text 9"/>
          <p:cNvSpPr/>
          <p:nvPr/>
        </p:nvSpPr>
        <p:spPr>
          <a:xfrm>
            <a:off x="1005840" y="1819656"/>
            <a:ext cx="32004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Repeatability</a:t>
            </a:r>
            <a:endParaRPr lang="en-US" sz="1200" dirty="0"/>
          </a:p>
        </p:txBody>
      </p:sp>
      <p:sp>
        <p:nvSpPr>
          <p:cNvPr id="14" name="Text 10"/>
          <p:cNvSpPr/>
          <p:nvPr/>
        </p:nvSpPr>
        <p:spPr>
          <a:xfrm>
            <a:off x="1005840" y="2084832"/>
            <a:ext cx="32004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Identical environments every time — dev, staging, prod</a:t>
            </a:r>
            <a:endParaRPr lang="en-US" sz="1000" dirty="0"/>
          </a:p>
        </p:txBody>
      </p:sp>
      <p:sp>
        <p:nvSpPr>
          <p:cNvPr id="15" name="Shape 11"/>
          <p:cNvSpPr/>
          <p:nvPr/>
        </p:nvSpPr>
        <p:spPr>
          <a:xfrm>
            <a:off x="320040" y="2523744"/>
            <a:ext cx="4023360" cy="667512"/>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6" name="Shape 12"/>
          <p:cNvSpPr/>
          <p:nvPr/>
        </p:nvSpPr>
        <p:spPr>
          <a:xfrm>
            <a:off x="429768" y="2619756"/>
            <a:ext cx="475488" cy="475488"/>
          </a:xfrm>
          <a:prstGeom prst="line">
            <a:avLst/>
          </a:prstGeom>
          <a:solidFill>
            <a:srgbClr val="7C3AED"/>
          </a:solidFill>
          <a:ln w="12700">
            <a:solidFill>
              <a:srgbClr val="7C3AED"/>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524866" y="2714854"/>
            <a:ext cx="285293" cy="285293"/>
          </a:xfrm>
          <a:prstGeom prst="rect">
            <a:avLst/>
          </a:prstGeom>
        </p:spPr>
      </p:pic>
      <p:sp>
        <p:nvSpPr>
          <p:cNvPr id="18" name="Text 13"/>
          <p:cNvSpPr/>
          <p:nvPr/>
        </p:nvSpPr>
        <p:spPr>
          <a:xfrm>
            <a:off x="1005840" y="2578608"/>
            <a:ext cx="32004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Version Control</a:t>
            </a:r>
            <a:endParaRPr lang="en-US" sz="1200" dirty="0"/>
          </a:p>
        </p:txBody>
      </p:sp>
      <p:sp>
        <p:nvSpPr>
          <p:cNvPr id="19" name="Text 14"/>
          <p:cNvSpPr/>
          <p:nvPr/>
        </p:nvSpPr>
        <p:spPr>
          <a:xfrm>
            <a:off x="1005840" y="2843784"/>
            <a:ext cx="32004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Infrastructure changes tracked in Git like application code</a:t>
            </a:r>
            <a:endParaRPr lang="en-US" sz="1000" dirty="0"/>
          </a:p>
        </p:txBody>
      </p:sp>
      <p:sp>
        <p:nvSpPr>
          <p:cNvPr id="20" name="Shape 15"/>
          <p:cNvSpPr/>
          <p:nvPr/>
        </p:nvSpPr>
        <p:spPr>
          <a:xfrm>
            <a:off x="320040" y="3282696"/>
            <a:ext cx="4023360" cy="667512"/>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1" name="Shape 16"/>
          <p:cNvSpPr/>
          <p:nvPr/>
        </p:nvSpPr>
        <p:spPr>
          <a:xfrm>
            <a:off x="429768" y="3378708"/>
            <a:ext cx="475488" cy="475488"/>
          </a:xfrm>
          <a:prstGeom prst="line">
            <a:avLst/>
          </a:prstGeom>
          <a:solidFill>
            <a:srgbClr val="22C55E"/>
          </a:solidFill>
          <a:ln w="12700">
            <a:solidFill>
              <a:srgbClr val="22C55E"/>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524866" y="3473806"/>
            <a:ext cx="285293" cy="285293"/>
          </a:xfrm>
          <a:prstGeom prst="rect">
            <a:avLst/>
          </a:prstGeom>
        </p:spPr>
      </p:pic>
      <p:sp>
        <p:nvSpPr>
          <p:cNvPr id="23" name="Text 17"/>
          <p:cNvSpPr/>
          <p:nvPr/>
        </p:nvSpPr>
        <p:spPr>
          <a:xfrm>
            <a:off x="1005840" y="3337560"/>
            <a:ext cx="32004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Collaboration</a:t>
            </a:r>
            <a:endParaRPr lang="en-US" sz="1200" dirty="0"/>
          </a:p>
        </p:txBody>
      </p:sp>
      <p:sp>
        <p:nvSpPr>
          <p:cNvPr id="24" name="Text 18"/>
          <p:cNvSpPr/>
          <p:nvPr/>
        </p:nvSpPr>
        <p:spPr>
          <a:xfrm>
            <a:off x="1005840" y="3602736"/>
            <a:ext cx="32004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Remote state enables team-based workflows safely</a:t>
            </a:r>
            <a:endParaRPr lang="en-US" sz="1000" dirty="0"/>
          </a:p>
        </p:txBody>
      </p:sp>
      <p:sp>
        <p:nvSpPr>
          <p:cNvPr id="25" name="Shape 19"/>
          <p:cNvSpPr/>
          <p:nvPr/>
        </p:nvSpPr>
        <p:spPr>
          <a:xfrm>
            <a:off x="320040" y="4041648"/>
            <a:ext cx="4023360" cy="667512"/>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6" name="Shape 20"/>
          <p:cNvSpPr/>
          <p:nvPr/>
        </p:nvSpPr>
        <p:spPr>
          <a:xfrm>
            <a:off x="429768" y="4137660"/>
            <a:ext cx="475488" cy="475488"/>
          </a:xfrm>
          <a:prstGeom prst="line">
            <a:avLst/>
          </a:prstGeom>
          <a:solidFill>
            <a:srgbClr val="EF4444"/>
          </a:solidFill>
          <a:ln w="12700">
            <a:solidFill>
              <a:srgbClr val="EF4444"/>
            </a:solidFill>
            <a:prstDash val="solid"/>
          </a:ln>
        </p:spPr>
        <p:txBody>
          <a:bodyPr/>
          <a:lstStyle/>
          <a:p>
            <a:endParaRPr lang="en-IN"/>
          </a:p>
        </p:txBody>
      </p:sp>
      <p:pic>
        <p:nvPicPr>
          <p:cNvPr id="27" name="Image 4" descr="preencoded.png"/>
          <p:cNvPicPr>
            <a:picLocks noChangeAspect="1"/>
          </p:cNvPicPr>
          <p:nvPr/>
        </p:nvPicPr>
        <p:blipFill>
          <a:blip r:embed="rId7"/>
          <a:stretch>
            <a:fillRect/>
          </a:stretch>
        </p:blipFill>
        <p:spPr>
          <a:xfrm>
            <a:off x="524866" y="4232758"/>
            <a:ext cx="285293" cy="285293"/>
          </a:xfrm>
          <a:prstGeom prst="rect">
            <a:avLst/>
          </a:prstGeom>
        </p:spPr>
      </p:pic>
      <p:sp>
        <p:nvSpPr>
          <p:cNvPr id="28" name="Text 21"/>
          <p:cNvSpPr/>
          <p:nvPr/>
        </p:nvSpPr>
        <p:spPr>
          <a:xfrm>
            <a:off x="1005840" y="4096512"/>
            <a:ext cx="32004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Error Reduction</a:t>
            </a:r>
            <a:endParaRPr lang="en-US" sz="1200" dirty="0"/>
          </a:p>
        </p:txBody>
      </p:sp>
      <p:sp>
        <p:nvSpPr>
          <p:cNvPr id="29" name="Text 22"/>
          <p:cNvSpPr/>
          <p:nvPr/>
        </p:nvSpPr>
        <p:spPr>
          <a:xfrm>
            <a:off x="1005840" y="4361688"/>
            <a:ext cx="32004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manual SSH — eliminates human configuration drift</a:t>
            </a:r>
            <a:endParaRPr lang="en-US" sz="1000" dirty="0"/>
          </a:p>
        </p:txBody>
      </p:sp>
      <p:sp>
        <p:nvSpPr>
          <p:cNvPr id="30" name="Shape 23"/>
          <p:cNvSpPr/>
          <p:nvPr/>
        </p:nvSpPr>
        <p:spPr>
          <a:xfrm>
            <a:off x="4663440" y="1005840"/>
            <a:ext cx="4160520" cy="3794760"/>
          </a:xfrm>
          <a:prstGeom prst="rect">
            <a:avLst/>
          </a:prstGeom>
          <a:solidFill>
            <a:srgbClr val="F5F0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1" name="Text 24"/>
          <p:cNvSpPr/>
          <p:nvPr/>
        </p:nvSpPr>
        <p:spPr>
          <a:xfrm>
            <a:off x="4754880" y="1051560"/>
            <a:ext cx="3977640" cy="320040"/>
          </a:xfrm>
          <a:prstGeom prst="rect">
            <a:avLst/>
          </a:prstGeom>
          <a:noFill/>
          <a:ln/>
        </p:spPr>
        <p:txBody>
          <a:bodyPr wrap="square" lIns="0" tIns="0" rIns="0" bIns="0" rtlCol="0" anchor="ctr"/>
          <a:lstStyle/>
          <a:p>
            <a:pPr marL="0" indent="0" algn="ctr">
              <a:buNone/>
            </a:pPr>
            <a:r>
              <a:rPr lang="en-US" sz="1400" b="1" dirty="0">
                <a:solidFill>
                  <a:srgbClr val="7C3AED"/>
                </a:solidFill>
                <a:latin typeface="Cambria" pitchFamily="34" charset="0"/>
                <a:ea typeface="Cambria" pitchFamily="34" charset="-122"/>
                <a:cs typeface="Cambria" pitchFamily="34" charset="-120"/>
              </a:rPr>
              <a:t>Terraform Workflow</a:t>
            </a:r>
            <a:endParaRPr lang="en-US" sz="1400" dirty="0"/>
          </a:p>
        </p:txBody>
      </p:sp>
      <p:sp>
        <p:nvSpPr>
          <p:cNvPr id="32" name="Shape 25"/>
          <p:cNvSpPr/>
          <p:nvPr/>
        </p:nvSpPr>
        <p:spPr>
          <a:xfrm>
            <a:off x="4754880" y="1508760"/>
            <a:ext cx="868680" cy="594360"/>
          </a:xfrm>
          <a:prstGeom prst="rect">
            <a:avLst/>
          </a:prstGeom>
          <a:solidFill>
            <a:srgbClr val="7C3AED"/>
          </a:solidFill>
          <a:ln w="12700">
            <a:solidFill>
              <a:srgbClr val="7C3AED"/>
            </a:solidFill>
            <a:prstDash val="solid"/>
          </a:ln>
          <a:effectLst>
            <a:outerShdw blurRad="101600" dist="25400" dir="2700000" algn="bl" rotWithShape="0">
              <a:srgbClr val="000000">
                <a:alpha val="12000"/>
              </a:srgbClr>
            </a:outerShdw>
          </a:effectLst>
        </p:spPr>
        <p:txBody>
          <a:bodyPr/>
          <a:lstStyle/>
          <a:p>
            <a:endParaRPr lang="en-IN"/>
          </a:p>
        </p:txBody>
      </p:sp>
      <p:pic>
        <p:nvPicPr>
          <p:cNvPr id="33" name="Image 5" descr="preencoded.png"/>
          <p:cNvPicPr>
            <a:picLocks noChangeAspect="1"/>
          </p:cNvPicPr>
          <p:nvPr/>
        </p:nvPicPr>
        <p:blipFill>
          <a:blip r:embed="rId8"/>
          <a:stretch>
            <a:fillRect/>
          </a:stretch>
        </p:blipFill>
        <p:spPr>
          <a:xfrm>
            <a:off x="5056632" y="1554480"/>
            <a:ext cx="256032" cy="256032"/>
          </a:xfrm>
          <a:prstGeom prst="rect">
            <a:avLst/>
          </a:prstGeom>
        </p:spPr>
      </p:pic>
      <p:sp>
        <p:nvSpPr>
          <p:cNvPr id="34" name="Text 26"/>
          <p:cNvSpPr/>
          <p:nvPr/>
        </p:nvSpPr>
        <p:spPr>
          <a:xfrm>
            <a:off x="4754880" y="1828800"/>
            <a:ext cx="8686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Write</a:t>
            </a:r>
            <a:endParaRPr lang="en-US" sz="900" dirty="0"/>
          </a:p>
        </p:txBody>
      </p:sp>
      <p:sp>
        <p:nvSpPr>
          <p:cNvPr id="35" name="Shape 27"/>
          <p:cNvSpPr/>
          <p:nvPr/>
        </p:nvSpPr>
        <p:spPr>
          <a:xfrm>
            <a:off x="5623560" y="1801368"/>
            <a:ext cx="118872" cy="0"/>
          </a:xfrm>
          <a:prstGeom prst="line">
            <a:avLst/>
          </a:prstGeom>
          <a:noFill/>
          <a:ln w="19050">
            <a:solidFill>
              <a:srgbClr val="FF9900"/>
            </a:solidFill>
            <a:prstDash val="solid"/>
            <a:tailEnd type="arrow"/>
          </a:ln>
        </p:spPr>
        <p:txBody>
          <a:bodyPr/>
          <a:lstStyle/>
          <a:p>
            <a:endParaRPr lang="en-IN"/>
          </a:p>
        </p:txBody>
      </p:sp>
      <p:sp>
        <p:nvSpPr>
          <p:cNvPr id="36" name="Shape 28"/>
          <p:cNvSpPr/>
          <p:nvPr/>
        </p:nvSpPr>
        <p:spPr>
          <a:xfrm>
            <a:off x="5742432" y="1508760"/>
            <a:ext cx="868680" cy="594360"/>
          </a:xfrm>
          <a:prstGeom prst="rect">
            <a:avLst/>
          </a:prstGeom>
          <a:solidFill>
            <a:srgbClr val="0073BB"/>
          </a:solidFill>
          <a:ln w="12700">
            <a:solidFill>
              <a:srgbClr val="0073BB"/>
            </a:solidFill>
            <a:prstDash val="solid"/>
          </a:ln>
          <a:effectLst>
            <a:outerShdw blurRad="101600" dist="25400" dir="2700000" algn="bl" rotWithShape="0">
              <a:srgbClr val="000000">
                <a:alpha val="12000"/>
              </a:srgbClr>
            </a:outerShdw>
          </a:effectLst>
        </p:spPr>
        <p:txBody>
          <a:bodyPr/>
          <a:lstStyle/>
          <a:p>
            <a:endParaRPr lang="en-IN"/>
          </a:p>
        </p:txBody>
      </p:sp>
      <p:pic>
        <p:nvPicPr>
          <p:cNvPr id="37" name="Image 6" descr="preencoded.png"/>
          <p:cNvPicPr>
            <a:picLocks noChangeAspect="1"/>
          </p:cNvPicPr>
          <p:nvPr/>
        </p:nvPicPr>
        <p:blipFill>
          <a:blip r:embed="rId9"/>
          <a:stretch>
            <a:fillRect/>
          </a:stretch>
        </p:blipFill>
        <p:spPr>
          <a:xfrm>
            <a:off x="6044184" y="1554480"/>
            <a:ext cx="256032" cy="256032"/>
          </a:xfrm>
          <a:prstGeom prst="rect">
            <a:avLst/>
          </a:prstGeom>
        </p:spPr>
      </p:pic>
      <p:sp>
        <p:nvSpPr>
          <p:cNvPr id="38" name="Text 29"/>
          <p:cNvSpPr/>
          <p:nvPr/>
        </p:nvSpPr>
        <p:spPr>
          <a:xfrm>
            <a:off x="5742432" y="1828800"/>
            <a:ext cx="8686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Init</a:t>
            </a:r>
            <a:endParaRPr lang="en-US" sz="900" dirty="0"/>
          </a:p>
        </p:txBody>
      </p:sp>
      <p:sp>
        <p:nvSpPr>
          <p:cNvPr id="39" name="Shape 30"/>
          <p:cNvSpPr/>
          <p:nvPr/>
        </p:nvSpPr>
        <p:spPr>
          <a:xfrm>
            <a:off x="6611112" y="1801368"/>
            <a:ext cx="118872" cy="0"/>
          </a:xfrm>
          <a:prstGeom prst="line">
            <a:avLst/>
          </a:prstGeom>
          <a:noFill/>
          <a:ln w="19050">
            <a:solidFill>
              <a:srgbClr val="FF9900"/>
            </a:solidFill>
            <a:prstDash val="solid"/>
            <a:tailEnd type="arrow"/>
          </a:ln>
        </p:spPr>
        <p:txBody>
          <a:bodyPr/>
          <a:lstStyle/>
          <a:p>
            <a:endParaRPr lang="en-IN"/>
          </a:p>
        </p:txBody>
      </p:sp>
      <p:sp>
        <p:nvSpPr>
          <p:cNvPr id="40" name="Shape 31"/>
          <p:cNvSpPr/>
          <p:nvPr/>
        </p:nvSpPr>
        <p:spPr>
          <a:xfrm>
            <a:off x="6729984" y="1508760"/>
            <a:ext cx="868680" cy="594360"/>
          </a:xfrm>
          <a:prstGeom prst="rect">
            <a:avLst/>
          </a:prstGeom>
          <a:solidFill>
            <a:srgbClr val="EAB308"/>
          </a:solidFill>
          <a:ln w="12700">
            <a:solidFill>
              <a:srgbClr val="EAB308"/>
            </a:solidFill>
            <a:prstDash val="solid"/>
          </a:ln>
          <a:effectLst>
            <a:outerShdw blurRad="101600" dist="25400" dir="2700000" algn="bl" rotWithShape="0">
              <a:srgbClr val="000000">
                <a:alpha val="12000"/>
              </a:srgbClr>
            </a:outerShdw>
          </a:effectLst>
        </p:spPr>
        <p:txBody>
          <a:bodyPr/>
          <a:lstStyle/>
          <a:p>
            <a:endParaRPr lang="en-IN"/>
          </a:p>
        </p:txBody>
      </p:sp>
      <p:pic>
        <p:nvPicPr>
          <p:cNvPr id="41" name="Image 7" descr="preencoded.png"/>
          <p:cNvPicPr>
            <a:picLocks noChangeAspect="1"/>
          </p:cNvPicPr>
          <p:nvPr/>
        </p:nvPicPr>
        <p:blipFill>
          <a:blip r:embed="rId10"/>
          <a:stretch>
            <a:fillRect/>
          </a:stretch>
        </p:blipFill>
        <p:spPr>
          <a:xfrm>
            <a:off x="7031736" y="1554480"/>
            <a:ext cx="256032" cy="256032"/>
          </a:xfrm>
          <a:prstGeom prst="rect">
            <a:avLst/>
          </a:prstGeom>
        </p:spPr>
      </p:pic>
      <p:sp>
        <p:nvSpPr>
          <p:cNvPr id="42" name="Text 32"/>
          <p:cNvSpPr/>
          <p:nvPr/>
        </p:nvSpPr>
        <p:spPr>
          <a:xfrm>
            <a:off x="6729984" y="1828800"/>
            <a:ext cx="8686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Plan</a:t>
            </a:r>
            <a:endParaRPr lang="en-US" sz="900" dirty="0"/>
          </a:p>
        </p:txBody>
      </p:sp>
      <p:sp>
        <p:nvSpPr>
          <p:cNvPr id="43" name="Shape 33"/>
          <p:cNvSpPr/>
          <p:nvPr/>
        </p:nvSpPr>
        <p:spPr>
          <a:xfrm>
            <a:off x="7598664" y="1801368"/>
            <a:ext cx="118872" cy="0"/>
          </a:xfrm>
          <a:prstGeom prst="line">
            <a:avLst/>
          </a:prstGeom>
          <a:noFill/>
          <a:ln w="19050">
            <a:solidFill>
              <a:srgbClr val="FF9900"/>
            </a:solidFill>
            <a:prstDash val="solid"/>
            <a:tailEnd type="arrow"/>
          </a:ln>
        </p:spPr>
        <p:txBody>
          <a:bodyPr/>
          <a:lstStyle/>
          <a:p>
            <a:endParaRPr lang="en-IN"/>
          </a:p>
        </p:txBody>
      </p:sp>
      <p:sp>
        <p:nvSpPr>
          <p:cNvPr id="44" name="Shape 34"/>
          <p:cNvSpPr/>
          <p:nvPr/>
        </p:nvSpPr>
        <p:spPr>
          <a:xfrm>
            <a:off x="7717536" y="1508760"/>
            <a:ext cx="868680" cy="594360"/>
          </a:xfrm>
          <a:prstGeom prst="rect">
            <a:avLst/>
          </a:prstGeom>
          <a:solidFill>
            <a:srgbClr val="22C55E"/>
          </a:solidFill>
          <a:ln w="12700">
            <a:solidFill>
              <a:srgbClr val="22C55E"/>
            </a:solidFill>
            <a:prstDash val="solid"/>
          </a:ln>
          <a:effectLst>
            <a:outerShdw blurRad="101600" dist="25400" dir="2700000" algn="bl" rotWithShape="0">
              <a:srgbClr val="000000">
                <a:alpha val="12000"/>
              </a:srgbClr>
            </a:outerShdw>
          </a:effectLst>
        </p:spPr>
        <p:txBody>
          <a:bodyPr/>
          <a:lstStyle/>
          <a:p>
            <a:endParaRPr lang="en-IN"/>
          </a:p>
        </p:txBody>
      </p:sp>
      <p:pic>
        <p:nvPicPr>
          <p:cNvPr id="45" name="Image 8" descr="preencoded.png"/>
          <p:cNvPicPr>
            <a:picLocks noChangeAspect="1"/>
          </p:cNvPicPr>
          <p:nvPr/>
        </p:nvPicPr>
        <p:blipFill>
          <a:blip r:embed="rId11"/>
          <a:stretch>
            <a:fillRect/>
          </a:stretch>
        </p:blipFill>
        <p:spPr>
          <a:xfrm>
            <a:off x="8019288" y="1554480"/>
            <a:ext cx="256032" cy="256032"/>
          </a:xfrm>
          <a:prstGeom prst="rect">
            <a:avLst/>
          </a:prstGeom>
        </p:spPr>
      </p:pic>
      <p:sp>
        <p:nvSpPr>
          <p:cNvPr id="46" name="Text 35"/>
          <p:cNvSpPr/>
          <p:nvPr/>
        </p:nvSpPr>
        <p:spPr>
          <a:xfrm>
            <a:off x="7717536" y="1828800"/>
            <a:ext cx="86868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Apply</a:t>
            </a:r>
            <a:endParaRPr lang="en-US" sz="900" dirty="0"/>
          </a:p>
        </p:txBody>
      </p:sp>
      <p:sp>
        <p:nvSpPr>
          <p:cNvPr id="47" name="Text 36"/>
          <p:cNvSpPr/>
          <p:nvPr/>
        </p:nvSpPr>
        <p:spPr>
          <a:xfrm>
            <a:off x="4754880" y="2176272"/>
            <a:ext cx="868680" cy="25603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HCL modules + variables</a:t>
            </a:r>
            <a:endParaRPr lang="en-US" sz="800" dirty="0"/>
          </a:p>
        </p:txBody>
      </p:sp>
      <p:sp>
        <p:nvSpPr>
          <p:cNvPr id="48" name="Text 37"/>
          <p:cNvSpPr/>
          <p:nvPr/>
        </p:nvSpPr>
        <p:spPr>
          <a:xfrm>
            <a:off x="5742432" y="2176272"/>
            <a:ext cx="868680" cy="25603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terraform init</a:t>
            </a:r>
            <a:endParaRPr lang="en-US" sz="800" dirty="0"/>
          </a:p>
        </p:txBody>
      </p:sp>
      <p:sp>
        <p:nvSpPr>
          <p:cNvPr id="49" name="Text 38"/>
          <p:cNvSpPr/>
          <p:nvPr/>
        </p:nvSpPr>
        <p:spPr>
          <a:xfrm>
            <a:off x="6729984" y="2176272"/>
            <a:ext cx="868680" cy="25603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Review change set</a:t>
            </a:r>
            <a:endParaRPr lang="en-US" sz="800" dirty="0"/>
          </a:p>
        </p:txBody>
      </p:sp>
      <p:sp>
        <p:nvSpPr>
          <p:cNvPr id="50" name="Text 39"/>
          <p:cNvSpPr/>
          <p:nvPr/>
        </p:nvSpPr>
        <p:spPr>
          <a:xfrm>
            <a:off x="7717536" y="2176272"/>
            <a:ext cx="868680" cy="25603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Provision AWS resources</a:t>
            </a:r>
            <a:endParaRPr lang="en-US" sz="800" dirty="0"/>
          </a:p>
        </p:txBody>
      </p:sp>
      <p:sp>
        <p:nvSpPr>
          <p:cNvPr id="51" name="Shape 40"/>
          <p:cNvSpPr/>
          <p:nvPr/>
        </p:nvSpPr>
        <p:spPr>
          <a:xfrm>
            <a:off x="4754880" y="2578608"/>
            <a:ext cx="3977640" cy="1993392"/>
          </a:xfrm>
          <a:prstGeom prst="rect">
            <a:avLst/>
          </a:prstGeom>
          <a:solidFill>
            <a:srgbClr val="1A2C42"/>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52" name="Text 41"/>
          <p:cNvSpPr/>
          <p:nvPr/>
        </p:nvSpPr>
        <p:spPr>
          <a:xfrm>
            <a:off x="4846320" y="2633472"/>
            <a:ext cx="3794760" cy="274320"/>
          </a:xfrm>
          <a:prstGeom prst="rect">
            <a:avLst/>
          </a:prstGeom>
          <a:noFill/>
          <a:ln/>
        </p:spPr>
        <p:txBody>
          <a:bodyPr wrap="square" lIns="0" tIns="0" rIns="0" bIns="0" rtlCol="0" anchor="ctr"/>
          <a:lstStyle/>
          <a:p>
            <a:pPr marL="0" indent="0" algn="ctr">
              <a:buNone/>
            </a:pPr>
            <a:r>
              <a:rPr lang="en-US" sz="1200" b="1" dirty="0">
                <a:solidFill>
                  <a:srgbClr val="FF9900"/>
                </a:solidFill>
                <a:latin typeface="Cambria" pitchFamily="34" charset="0"/>
                <a:ea typeface="Cambria" pitchFamily="34" charset="-122"/>
                <a:cs typeface="Cambria" pitchFamily="34" charset="-120"/>
              </a:rPr>
              <a:t>Remote State Management</a:t>
            </a:r>
            <a:endParaRPr lang="en-US" sz="1200" dirty="0"/>
          </a:p>
        </p:txBody>
      </p:sp>
      <p:sp>
        <p:nvSpPr>
          <p:cNvPr id="53" name="Shape 42"/>
          <p:cNvSpPr/>
          <p:nvPr/>
        </p:nvSpPr>
        <p:spPr>
          <a:xfrm>
            <a:off x="4892040" y="2999232"/>
            <a:ext cx="1143000" cy="530352"/>
          </a:xfrm>
          <a:prstGeom prst="rect">
            <a:avLst/>
          </a:prstGeom>
          <a:solidFill>
            <a:srgbClr val="7C3AED"/>
          </a:solidFill>
          <a:ln w="12700">
            <a:solidFill>
              <a:srgbClr val="7C3AED"/>
            </a:solidFill>
            <a:prstDash val="solid"/>
          </a:ln>
        </p:spPr>
        <p:txBody>
          <a:bodyPr/>
          <a:lstStyle/>
          <a:p>
            <a:endParaRPr lang="en-IN"/>
          </a:p>
        </p:txBody>
      </p:sp>
      <p:pic>
        <p:nvPicPr>
          <p:cNvPr id="54" name="Image 9" descr="preencoded.png"/>
          <p:cNvPicPr>
            <a:picLocks noChangeAspect="1"/>
          </p:cNvPicPr>
          <p:nvPr/>
        </p:nvPicPr>
        <p:blipFill>
          <a:blip r:embed="rId12"/>
          <a:stretch>
            <a:fillRect/>
          </a:stretch>
        </p:blipFill>
        <p:spPr>
          <a:xfrm>
            <a:off x="4965192" y="3108960"/>
            <a:ext cx="256032" cy="256032"/>
          </a:xfrm>
          <a:prstGeom prst="rect">
            <a:avLst/>
          </a:prstGeom>
        </p:spPr>
      </p:pic>
      <p:sp>
        <p:nvSpPr>
          <p:cNvPr id="55" name="Text 43"/>
          <p:cNvSpPr/>
          <p:nvPr/>
        </p:nvSpPr>
        <p:spPr>
          <a:xfrm>
            <a:off x="5239512" y="3127248"/>
            <a:ext cx="73152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Terraform CLI</a:t>
            </a:r>
            <a:endParaRPr lang="en-US" sz="900" dirty="0"/>
          </a:p>
        </p:txBody>
      </p:sp>
      <p:sp>
        <p:nvSpPr>
          <p:cNvPr id="56" name="Shape 44"/>
          <p:cNvSpPr/>
          <p:nvPr/>
        </p:nvSpPr>
        <p:spPr>
          <a:xfrm>
            <a:off x="6217920" y="2999232"/>
            <a:ext cx="1143000" cy="530352"/>
          </a:xfrm>
          <a:prstGeom prst="rect">
            <a:avLst/>
          </a:prstGeom>
          <a:solidFill>
            <a:srgbClr val="14B8A6"/>
          </a:solidFill>
          <a:ln w="12700">
            <a:solidFill>
              <a:srgbClr val="14B8A6"/>
            </a:solidFill>
            <a:prstDash val="solid"/>
          </a:ln>
        </p:spPr>
        <p:txBody>
          <a:bodyPr/>
          <a:lstStyle/>
          <a:p>
            <a:endParaRPr lang="en-IN"/>
          </a:p>
        </p:txBody>
      </p:sp>
      <p:pic>
        <p:nvPicPr>
          <p:cNvPr id="57" name="Image 10" descr="preencoded.png"/>
          <p:cNvPicPr>
            <a:picLocks noChangeAspect="1"/>
          </p:cNvPicPr>
          <p:nvPr/>
        </p:nvPicPr>
        <p:blipFill>
          <a:blip r:embed="rId13"/>
          <a:stretch>
            <a:fillRect/>
          </a:stretch>
        </p:blipFill>
        <p:spPr>
          <a:xfrm>
            <a:off x="6291072" y="3108960"/>
            <a:ext cx="256032" cy="256032"/>
          </a:xfrm>
          <a:prstGeom prst="rect">
            <a:avLst/>
          </a:prstGeom>
        </p:spPr>
      </p:pic>
      <p:sp>
        <p:nvSpPr>
          <p:cNvPr id="58" name="Text 45"/>
          <p:cNvSpPr/>
          <p:nvPr/>
        </p:nvSpPr>
        <p:spPr>
          <a:xfrm>
            <a:off x="6565392" y="3127248"/>
            <a:ext cx="73152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S3 Bucket</a:t>
            </a:r>
            <a:endParaRPr lang="en-US" sz="900" dirty="0"/>
          </a:p>
        </p:txBody>
      </p:sp>
      <p:sp>
        <p:nvSpPr>
          <p:cNvPr id="59" name="Shape 46"/>
          <p:cNvSpPr/>
          <p:nvPr/>
        </p:nvSpPr>
        <p:spPr>
          <a:xfrm>
            <a:off x="7543800" y="2999232"/>
            <a:ext cx="1143000" cy="530352"/>
          </a:xfrm>
          <a:prstGeom prst="rect">
            <a:avLst/>
          </a:prstGeom>
          <a:solidFill>
            <a:srgbClr val="A855F7"/>
          </a:solidFill>
          <a:ln w="12700">
            <a:solidFill>
              <a:srgbClr val="A855F7"/>
            </a:solidFill>
            <a:prstDash val="solid"/>
          </a:ln>
        </p:spPr>
        <p:txBody>
          <a:bodyPr/>
          <a:lstStyle/>
          <a:p>
            <a:endParaRPr lang="en-IN"/>
          </a:p>
        </p:txBody>
      </p:sp>
      <p:pic>
        <p:nvPicPr>
          <p:cNvPr id="60" name="Image 11" descr="preencoded.png"/>
          <p:cNvPicPr>
            <a:picLocks noChangeAspect="1"/>
          </p:cNvPicPr>
          <p:nvPr/>
        </p:nvPicPr>
        <p:blipFill>
          <a:blip r:embed="rId14"/>
          <a:stretch>
            <a:fillRect/>
          </a:stretch>
        </p:blipFill>
        <p:spPr>
          <a:xfrm>
            <a:off x="7616952" y="3108960"/>
            <a:ext cx="256032" cy="256032"/>
          </a:xfrm>
          <a:prstGeom prst="rect">
            <a:avLst/>
          </a:prstGeom>
        </p:spPr>
      </p:pic>
      <p:sp>
        <p:nvSpPr>
          <p:cNvPr id="61" name="Text 47"/>
          <p:cNvSpPr/>
          <p:nvPr/>
        </p:nvSpPr>
        <p:spPr>
          <a:xfrm>
            <a:off x="7891272" y="3127248"/>
            <a:ext cx="73152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DynamoDB</a:t>
            </a:r>
            <a:endParaRPr lang="en-US" sz="900" dirty="0"/>
          </a:p>
        </p:txBody>
      </p:sp>
      <p:sp>
        <p:nvSpPr>
          <p:cNvPr id="62" name="Shape 48"/>
          <p:cNvSpPr/>
          <p:nvPr/>
        </p:nvSpPr>
        <p:spPr>
          <a:xfrm>
            <a:off x="6035040" y="3264408"/>
            <a:ext cx="182880" cy="0"/>
          </a:xfrm>
          <a:prstGeom prst="line">
            <a:avLst/>
          </a:prstGeom>
          <a:noFill/>
          <a:ln w="19050">
            <a:solidFill>
              <a:srgbClr val="FF9900"/>
            </a:solidFill>
            <a:prstDash val="solid"/>
            <a:tailEnd type="arrow"/>
          </a:ln>
        </p:spPr>
        <p:txBody>
          <a:bodyPr/>
          <a:lstStyle/>
          <a:p>
            <a:endParaRPr lang="en-IN"/>
          </a:p>
        </p:txBody>
      </p:sp>
      <p:sp>
        <p:nvSpPr>
          <p:cNvPr id="63" name="Shape 49"/>
          <p:cNvSpPr/>
          <p:nvPr/>
        </p:nvSpPr>
        <p:spPr>
          <a:xfrm>
            <a:off x="7360920" y="3264408"/>
            <a:ext cx="182880" cy="0"/>
          </a:xfrm>
          <a:prstGeom prst="line">
            <a:avLst/>
          </a:prstGeom>
          <a:noFill/>
          <a:ln w="19050">
            <a:solidFill>
              <a:srgbClr val="FF9900"/>
            </a:solidFill>
            <a:prstDash val="solid"/>
            <a:tailEnd type="arrow"/>
          </a:ln>
        </p:spPr>
        <p:txBody>
          <a:bodyPr/>
          <a:lstStyle/>
          <a:p>
            <a:endParaRPr lang="en-IN"/>
          </a:p>
        </p:txBody>
      </p:sp>
      <p:sp>
        <p:nvSpPr>
          <p:cNvPr id="64" name="Text 50"/>
          <p:cNvSpPr/>
          <p:nvPr/>
        </p:nvSpPr>
        <p:spPr>
          <a:xfrm>
            <a:off x="6035040" y="3401568"/>
            <a:ext cx="594360" cy="182880"/>
          </a:xfrm>
          <a:prstGeom prst="rect">
            <a:avLst/>
          </a:prstGeom>
          <a:noFill/>
          <a:ln/>
        </p:spPr>
        <p:txBody>
          <a:bodyPr wrap="square" lIns="0" tIns="0" rIns="0" bIns="0" rtlCol="0" anchor="ctr"/>
          <a:lstStyle/>
          <a:p>
            <a:pPr marL="0" indent="0" algn="ctr">
              <a:buNone/>
            </a:pPr>
            <a:r>
              <a:rPr lang="en-US" sz="750" dirty="0">
                <a:solidFill>
                  <a:srgbClr val="A0BDD0"/>
                </a:solidFill>
                <a:latin typeface="Calibri" pitchFamily="34" charset="0"/>
                <a:ea typeface="Calibri" pitchFamily="34" charset="-122"/>
                <a:cs typeface="Calibri" pitchFamily="34" charset="-120"/>
              </a:rPr>
              <a:t>state file</a:t>
            </a:r>
            <a:endParaRPr lang="en-US" sz="750" dirty="0"/>
          </a:p>
        </p:txBody>
      </p:sp>
      <p:sp>
        <p:nvSpPr>
          <p:cNvPr id="65" name="Text 51"/>
          <p:cNvSpPr/>
          <p:nvPr/>
        </p:nvSpPr>
        <p:spPr>
          <a:xfrm>
            <a:off x="7360920" y="3401568"/>
            <a:ext cx="594360" cy="182880"/>
          </a:xfrm>
          <a:prstGeom prst="rect">
            <a:avLst/>
          </a:prstGeom>
          <a:noFill/>
          <a:ln/>
        </p:spPr>
        <p:txBody>
          <a:bodyPr wrap="square" lIns="0" tIns="0" rIns="0" bIns="0" rtlCol="0" anchor="ctr"/>
          <a:lstStyle/>
          <a:p>
            <a:pPr marL="0" indent="0" algn="ctr">
              <a:buNone/>
            </a:pPr>
            <a:r>
              <a:rPr lang="en-US" sz="750" dirty="0">
                <a:solidFill>
                  <a:srgbClr val="A0BDD0"/>
                </a:solidFill>
                <a:latin typeface="Calibri" pitchFamily="34" charset="0"/>
                <a:ea typeface="Calibri" pitchFamily="34" charset="-122"/>
                <a:cs typeface="Calibri" pitchFamily="34" charset="-120"/>
              </a:rPr>
              <a:t>lock</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Terraform Module Structure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15 purpose-built modules — each follows main.tf / variables.tf / outputs.tf</a:t>
            </a:r>
            <a:endParaRPr lang="en-US" sz="1100" dirty="0"/>
          </a:p>
        </p:txBody>
      </p:sp>
      <p:sp>
        <p:nvSpPr>
          <p:cNvPr id="5" name="Shape 3"/>
          <p:cNvSpPr/>
          <p:nvPr/>
        </p:nvSpPr>
        <p:spPr>
          <a:xfrm>
            <a:off x="320040" y="960120"/>
            <a:ext cx="2011680" cy="566928"/>
          </a:xfrm>
          <a:prstGeom prst="rect">
            <a:avLst/>
          </a:prstGeom>
          <a:solidFill>
            <a:srgbClr val="F5F0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pic>
        <p:nvPicPr>
          <p:cNvPr id="6" name="Image 0" descr="preencoded.png"/>
          <p:cNvPicPr>
            <a:picLocks noChangeAspect="1"/>
          </p:cNvPicPr>
          <p:nvPr/>
        </p:nvPicPr>
        <p:blipFill>
          <a:blip r:embed="rId3"/>
          <a:stretch>
            <a:fillRect/>
          </a:stretch>
        </p:blipFill>
        <p:spPr>
          <a:xfrm>
            <a:off x="457200" y="1024128"/>
            <a:ext cx="347472" cy="347472"/>
          </a:xfrm>
          <a:prstGeom prst="rect">
            <a:avLst/>
          </a:prstGeom>
        </p:spPr>
      </p:pic>
      <p:sp>
        <p:nvSpPr>
          <p:cNvPr id="7" name="Text 4"/>
          <p:cNvSpPr/>
          <p:nvPr/>
        </p:nvSpPr>
        <p:spPr>
          <a:xfrm>
            <a:off x="877824" y="1024128"/>
            <a:ext cx="1389888" cy="34747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terraform/ (root)</a:t>
            </a:r>
            <a:endParaRPr lang="en-US" sz="1100" dirty="0"/>
          </a:p>
        </p:txBody>
      </p:sp>
      <p:sp>
        <p:nvSpPr>
          <p:cNvPr id="8" name="Shape 5"/>
          <p:cNvSpPr/>
          <p:nvPr/>
        </p:nvSpPr>
        <p:spPr>
          <a:xfrm>
            <a:off x="1325880" y="1527048"/>
            <a:ext cx="0" cy="228600"/>
          </a:xfrm>
          <a:prstGeom prst="line">
            <a:avLst/>
          </a:prstGeom>
          <a:noFill/>
          <a:ln w="19050">
            <a:solidFill>
              <a:srgbClr val="7C3AED"/>
            </a:solidFill>
            <a:prstDash val="solid"/>
          </a:ln>
        </p:spPr>
        <p:txBody>
          <a:bodyPr/>
          <a:lstStyle/>
          <a:p>
            <a:endParaRPr lang="en-IN"/>
          </a:p>
        </p:txBody>
      </p:sp>
      <p:sp>
        <p:nvSpPr>
          <p:cNvPr id="9" name="Shape 6"/>
          <p:cNvSpPr/>
          <p:nvPr/>
        </p:nvSpPr>
        <p:spPr>
          <a:xfrm>
            <a:off x="320040" y="1874520"/>
            <a:ext cx="2011680" cy="292608"/>
          </a:xfrm>
          <a:prstGeom prst="rect">
            <a:avLst/>
          </a:prstGeom>
          <a:solidFill>
            <a:srgbClr val="22C55E"/>
          </a:solidFill>
          <a:ln w="12700">
            <a:solidFill>
              <a:srgbClr val="22C55E"/>
            </a:solidFill>
            <a:prstDash val="solid"/>
          </a:ln>
        </p:spPr>
        <p:txBody>
          <a:bodyPr/>
          <a:lstStyle/>
          <a:p>
            <a:endParaRPr lang="en-IN"/>
          </a:p>
        </p:txBody>
      </p:sp>
      <p:sp>
        <p:nvSpPr>
          <p:cNvPr id="10" name="Text 7"/>
          <p:cNvSpPr/>
          <p:nvPr/>
        </p:nvSpPr>
        <p:spPr>
          <a:xfrm>
            <a:off x="320040" y="187452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Networking</a:t>
            </a:r>
            <a:endParaRPr lang="en-US" sz="900" dirty="0"/>
          </a:p>
        </p:txBody>
      </p:sp>
      <p:sp>
        <p:nvSpPr>
          <p:cNvPr id="11" name="Shape 8"/>
          <p:cNvSpPr/>
          <p:nvPr/>
        </p:nvSpPr>
        <p:spPr>
          <a:xfrm>
            <a:off x="320040" y="2221992"/>
            <a:ext cx="2011680" cy="292608"/>
          </a:xfrm>
          <a:prstGeom prst="rect">
            <a:avLst/>
          </a:prstGeom>
          <a:solidFill>
            <a:srgbClr val="FFFFFF"/>
          </a:solidFill>
          <a:ln w="6350">
            <a:solidFill>
              <a:srgbClr val="22C55E"/>
            </a:solidFill>
            <a:prstDash val="solid"/>
          </a:ln>
        </p:spPr>
        <p:txBody>
          <a:bodyPr/>
          <a:lstStyle/>
          <a:p>
            <a:endParaRPr lang="en-IN"/>
          </a:p>
        </p:txBody>
      </p:sp>
      <p:sp>
        <p:nvSpPr>
          <p:cNvPr id="12" name="Text 9"/>
          <p:cNvSpPr/>
          <p:nvPr/>
        </p:nvSpPr>
        <p:spPr>
          <a:xfrm>
            <a:off x="393192" y="224028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vpc</a:t>
            </a:r>
            <a:endParaRPr lang="en-US" sz="900" dirty="0"/>
          </a:p>
        </p:txBody>
      </p:sp>
      <p:sp>
        <p:nvSpPr>
          <p:cNvPr id="13" name="Shape 10"/>
          <p:cNvSpPr/>
          <p:nvPr/>
        </p:nvSpPr>
        <p:spPr>
          <a:xfrm>
            <a:off x="320040" y="2569464"/>
            <a:ext cx="2011680" cy="292608"/>
          </a:xfrm>
          <a:prstGeom prst="rect">
            <a:avLst/>
          </a:prstGeom>
          <a:solidFill>
            <a:srgbClr val="FFFFFF"/>
          </a:solidFill>
          <a:ln w="6350">
            <a:solidFill>
              <a:srgbClr val="22C55E"/>
            </a:solidFill>
            <a:prstDash val="solid"/>
          </a:ln>
        </p:spPr>
        <p:txBody>
          <a:bodyPr/>
          <a:lstStyle/>
          <a:p>
            <a:endParaRPr lang="en-IN"/>
          </a:p>
        </p:txBody>
      </p:sp>
      <p:sp>
        <p:nvSpPr>
          <p:cNvPr id="14" name="Text 11"/>
          <p:cNvSpPr/>
          <p:nvPr/>
        </p:nvSpPr>
        <p:spPr>
          <a:xfrm>
            <a:off x="393192" y="2587752"/>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security-groups</a:t>
            </a:r>
            <a:endParaRPr lang="en-US" sz="900" dirty="0"/>
          </a:p>
        </p:txBody>
      </p:sp>
      <p:sp>
        <p:nvSpPr>
          <p:cNvPr id="15" name="Shape 12"/>
          <p:cNvSpPr/>
          <p:nvPr/>
        </p:nvSpPr>
        <p:spPr>
          <a:xfrm>
            <a:off x="2423160" y="1874520"/>
            <a:ext cx="2011680" cy="292608"/>
          </a:xfrm>
          <a:prstGeom prst="rect">
            <a:avLst/>
          </a:prstGeom>
          <a:solidFill>
            <a:srgbClr val="F97316"/>
          </a:solidFill>
          <a:ln w="12700">
            <a:solidFill>
              <a:srgbClr val="F97316"/>
            </a:solidFill>
            <a:prstDash val="solid"/>
          </a:ln>
        </p:spPr>
        <p:txBody>
          <a:bodyPr/>
          <a:lstStyle/>
          <a:p>
            <a:endParaRPr lang="en-IN"/>
          </a:p>
        </p:txBody>
      </p:sp>
      <p:sp>
        <p:nvSpPr>
          <p:cNvPr id="16" name="Text 13"/>
          <p:cNvSpPr/>
          <p:nvPr/>
        </p:nvSpPr>
        <p:spPr>
          <a:xfrm>
            <a:off x="2423160" y="187452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Compute</a:t>
            </a:r>
            <a:endParaRPr lang="en-US" sz="900" dirty="0"/>
          </a:p>
        </p:txBody>
      </p:sp>
      <p:sp>
        <p:nvSpPr>
          <p:cNvPr id="17" name="Shape 14"/>
          <p:cNvSpPr/>
          <p:nvPr/>
        </p:nvSpPr>
        <p:spPr>
          <a:xfrm>
            <a:off x="2423160" y="2221992"/>
            <a:ext cx="2011680" cy="292608"/>
          </a:xfrm>
          <a:prstGeom prst="rect">
            <a:avLst/>
          </a:prstGeom>
          <a:solidFill>
            <a:srgbClr val="FFFFFF"/>
          </a:solidFill>
          <a:ln w="6350">
            <a:solidFill>
              <a:srgbClr val="F97316"/>
            </a:solidFill>
            <a:prstDash val="solid"/>
          </a:ln>
        </p:spPr>
        <p:txBody>
          <a:bodyPr/>
          <a:lstStyle/>
          <a:p>
            <a:endParaRPr lang="en-IN"/>
          </a:p>
        </p:txBody>
      </p:sp>
      <p:sp>
        <p:nvSpPr>
          <p:cNvPr id="18" name="Text 15"/>
          <p:cNvSpPr/>
          <p:nvPr/>
        </p:nvSpPr>
        <p:spPr>
          <a:xfrm>
            <a:off x="2496312" y="224028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alb</a:t>
            </a:r>
            <a:endParaRPr lang="en-US" sz="900" dirty="0"/>
          </a:p>
        </p:txBody>
      </p:sp>
      <p:sp>
        <p:nvSpPr>
          <p:cNvPr id="19" name="Shape 16"/>
          <p:cNvSpPr/>
          <p:nvPr/>
        </p:nvSpPr>
        <p:spPr>
          <a:xfrm>
            <a:off x="2423160" y="2569464"/>
            <a:ext cx="2011680" cy="292608"/>
          </a:xfrm>
          <a:prstGeom prst="rect">
            <a:avLst/>
          </a:prstGeom>
          <a:solidFill>
            <a:srgbClr val="FFFFFF"/>
          </a:solidFill>
          <a:ln w="6350">
            <a:solidFill>
              <a:srgbClr val="F97316"/>
            </a:solidFill>
            <a:prstDash val="solid"/>
          </a:ln>
        </p:spPr>
        <p:txBody>
          <a:bodyPr/>
          <a:lstStyle/>
          <a:p>
            <a:endParaRPr lang="en-IN"/>
          </a:p>
        </p:txBody>
      </p:sp>
      <p:sp>
        <p:nvSpPr>
          <p:cNvPr id="20" name="Text 17"/>
          <p:cNvSpPr/>
          <p:nvPr/>
        </p:nvSpPr>
        <p:spPr>
          <a:xfrm>
            <a:off x="2496312" y="2587752"/>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launch-templates</a:t>
            </a:r>
            <a:endParaRPr lang="en-US" sz="900" dirty="0"/>
          </a:p>
        </p:txBody>
      </p:sp>
      <p:sp>
        <p:nvSpPr>
          <p:cNvPr id="21" name="Shape 18"/>
          <p:cNvSpPr/>
          <p:nvPr/>
        </p:nvSpPr>
        <p:spPr>
          <a:xfrm>
            <a:off x="2423160" y="2916936"/>
            <a:ext cx="2011680" cy="292608"/>
          </a:xfrm>
          <a:prstGeom prst="rect">
            <a:avLst/>
          </a:prstGeom>
          <a:solidFill>
            <a:srgbClr val="FFFFFF"/>
          </a:solidFill>
          <a:ln w="6350">
            <a:solidFill>
              <a:srgbClr val="F97316"/>
            </a:solidFill>
            <a:prstDash val="solid"/>
          </a:ln>
        </p:spPr>
        <p:txBody>
          <a:bodyPr/>
          <a:lstStyle/>
          <a:p>
            <a:endParaRPr lang="en-IN"/>
          </a:p>
        </p:txBody>
      </p:sp>
      <p:sp>
        <p:nvSpPr>
          <p:cNvPr id="22" name="Text 19"/>
          <p:cNvSpPr/>
          <p:nvPr/>
        </p:nvSpPr>
        <p:spPr>
          <a:xfrm>
            <a:off x="2496312" y="2935224"/>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asg</a:t>
            </a:r>
            <a:endParaRPr lang="en-US" sz="900" dirty="0"/>
          </a:p>
        </p:txBody>
      </p:sp>
      <p:sp>
        <p:nvSpPr>
          <p:cNvPr id="23" name="Shape 20"/>
          <p:cNvSpPr/>
          <p:nvPr/>
        </p:nvSpPr>
        <p:spPr>
          <a:xfrm>
            <a:off x="4526280" y="1874520"/>
            <a:ext cx="2011680" cy="292608"/>
          </a:xfrm>
          <a:prstGeom prst="rect">
            <a:avLst/>
          </a:prstGeom>
          <a:solidFill>
            <a:srgbClr val="A855F7"/>
          </a:solidFill>
          <a:ln w="12700">
            <a:solidFill>
              <a:srgbClr val="A855F7"/>
            </a:solidFill>
            <a:prstDash val="solid"/>
          </a:ln>
        </p:spPr>
        <p:txBody>
          <a:bodyPr/>
          <a:lstStyle/>
          <a:p>
            <a:endParaRPr lang="en-IN"/>
          </a:p>
        </p:txBody>
      </p:sp>
      <p:sp>
        <p:nvSpPr>
          <p:cNvPr id="24" name="Text 21"/>
          <p:cNvSpPr/>
          <p:nvPr/>
        </p:nvSpPr>
        <p:spPr>
          <a:xfrm>
            <a:off x="4526280" y="187452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Database</a:t>
            </a:r>
            <a:endParaRPr lang="en-US" sz="900" dirty="0"/>
          </a:p>
        </p:txBody>
      </p:sp>
      <p:sp>
        <p:nvSpPr>
          <p:cNvPr id="25" name="Shape 22"/>
          <p:cNvSpPr/>
          <p:nvPr/>
        </p:nvSpPr>
        <p:spPr>
          <a:xfrm>
            <a:off x="4526280" y="2221992"/>
            <a:ext cx="2011680" cy="292608"/>
          </a:xfrm>
          <a:prstGeom prst="rect">
            <a:avLst/>
          </a:prstGeom>
          <a:solidFill>
            <a:srgbClr val="FFFFFF"/>
          </a:solidFill>
          <a:ln w="6350">
            <a:solidFill>
              <a:srgbClr val="A855F7"/>
            </a:solidFill>
            <a:prstDash val="solid"/>
          </a:ln>
        </p:spPr>
        <p:txBody>
          <a:bodyPr/>
          <a:lstStyle/>
          <a:p>
            <a:endParaRPr lang="en-IN"/>
          </a:p>
        </p:txBody>
      </p:sp>
      <p:sp>
        <p:nvSpPr>
          <p:cNvPr id="26" name="Text 23"/>
          <p:cNvSpPr/>
          <p:nvPr/>
        </p:nvSpPr>
        <p:spPr>
          <a:xfrm>
            <a:off x="4599432" y="224028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rds</a:t>
            </a:r>
            <a:endParaRPr lang="en-US" sz="900" dirty="0"/>
          </a:p>
        </p:txBody>
      </p:sp>
      <p:sp>
        <p:nvSpPr>
          <p:cNvPr id="27" name="Shape 24"/>
          <p:cNvSpPr/>
          <p:nvPr/>
        </p:nvSpPr>
        <p:spPr>
          <a:xfrm>
            <a:off x="6629400" y="1874520"/>
            <a:ext cx="2011680" cy="292608"/>
          </a:xfrm>
          <a:prstGeom prst="rect">
            <a:avLst/>
          </a:prstGeom>
          <a:solidFill>
            <a:srgbClr val="14B8A6"/>
          </a:solidFill>
          <a:ln w="12700">
            <a:solidFill>
              <a:srgbClr val="14B8A6"/>
            </a:solidFill>
            <a:prstDash val="solid"/>
          </a:ln>
        </p:spPr>
        <p:txBody>
          <a:bodyPr/>
          <a:lstStyle/>
          <a:p>
            <a:endParaRPr lang="en-IN"/>
          </a:p>
        </p:txBody>
      </p:sp>
      <p:sp>
        <p:nvSpPr>
          <p:cNvPr id="28" name="Text 25"/>
          <p:cNvSpPr/>
          <p:nvPr/>
        </p:nvSpPr>
        <p:spPr>
          <a:xfrm>
            <a:off x="6629400" y="187452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Storage</a:t>
            </a:r>
            <a:endParaRPr lang="en-US" sz="900" dirty="0"/>
          </a:p>
        </p:txBody>
      </p:sp>
      <p:sp>
        <p:nvSpPr>
          <p:cNvPr id="29" name="Shape 26"/>
          <p:cNvSpPr/>
          <p:nvPr/>
        </p:nvSpPr>
        <p:spPr>
          <a:xfrm>
            <a:off x="6629400" y="2221992"/>
            <a:ext cx="2011680" cy="292608"/>
          </a:xfrm>
          <a:prstGeom prst="rect">
            <a:avLst/>
          </a:prstGeom>
          <a:solidFill>
            <a:srgbClr val="FFFFFF"/>
          </a:solidFill>
          <a:ln w="6350">
            <a:solidFill>
              <a:srgbClr val="14B8A6"/>
            </a:solidFill>
            <a:prstDash val="solid"/>
          </a:ln>
        </p:spPr>
        <p:txBody>
          <a:bodyPr/>
          <a:lstStyle/>
          <a:p>
            <a:endParaRPr lang="en-IN"/>
          </a:p>
        </p:txBody>
      </p:sp>
      <p:sp>
        <p:nvSpPr>
          <p:cNvPr id="30" name="Text 27"/>
          <p:cNvSpPr/>
          <p:nvPr/>
        </p:nvSpPr>
        <p:spPr>
          <a:xfrm>
            <a:off x="6702552" y="224028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s3</a:t>
            </a:r>
            <a:endParaRPr lang="en-US" sz="900" dirty="0"/>
          </a:p>
        </p:txBody>
      </p:sp>
      <p:sp>
        <p:nvSpPr>
          <p:cNvPr id="31" name="Shape 28"/>
          <p:cNvSpPr/>
          <p:nvPr/>
        </p:nvSpPr>
        <p:spPr>
          <a:xfrm>
            <a:off x="320040" y="3383280"/>
            <a:ext cx="2011680" cy="292608"/>
          </a:xfrm>
          <a:prstGeom prst="rect">
            <a:avLst/>
          </a:prstGeom>
          <a:solidFill>
            <a:srgbClr val="EF4444"/>
          </a:solidFill>
          <a:ln w="12700">
            <a:solidFill>
              <a:srgbClr val="EF4444"/>
            </a:solidFill>
            <a:prstDash val="solid"/>
          </a:ln>
        </p:spPr>
        <p:txBody>
          <a:bodyPr/>
          <a:lstStyle/>
          <a:p>
            <a:endParaRPr lang="en-IN"/>
          </a:p>
        </p:txBody>
      </p:sp>
      <p:sp>
        <p:nvSpPr>
          <p:cNvPr id="32" name="Text 29"/>
          <p:cNvSpPr/>
          <p:nvPr/>
        </p:nvSpPr>
        <p:spPr>
          <a:xfrm>
            <a:off x="320040" y="33832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Security</a:t>
            </a:r>
            <a:endParaRPr lang="en-US" sz="900" dirty="0"/>
          </a:p>
        </p:txBody>
      </p:sp>
      <p:sp>
        <p:nvSpPr>
          <p:cNvPr id="33" name="Shape 30"/>
          <p:cNvSpPr/>
          <p:nvPr/>
        </p:nvSpPr>
        <p:spPr>
          <a:xfrm>
            <a:off x="320040" y="3730752"/>
            <a:ext cx="2011680" cy="292608"/>
          </a:xfrm>
          <a:prstGeom prst="rect">
            <a:avLst/>
          </a:prstGeom>
          <a:solidFill>
            <a:srgbClr val="FFFFFF"/>
          </a:solidFill>
          <a:ln w="6350">
            <a:solidFill>
              <a:srgbClr val="EF4444"/>
            </a:solidFill>
            <a:prstDash val="solid"/>
          </a:ln>
        </p:spPr>
        <p:txBody>
          <a:bodyPr/>
          <a:lstStyle/>
          <a:p>
            <a:endParaRPr lang="en-IN"/>
          </a:p>
        </p:txBody>
      </p:sp>
      <p:sp>
        <p:nvSpPr>
          <p:cNvPr id="34" name="Text 31"/>
          <p:cNvSpPr/>
          <p:nvPr/>
        </p:nvSpPr>
        <p:spPr>
          <a:xfrm>
            <a:off x="393192" y="374904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kms</a:t>
            </a:r>
            <a:endParaRPr lang="en-US" sz="900" dirty="0"/>
          </a:p>
        </p:txBody>
      </p:sp>
      <p:sp>
        <p:nvSpPr>
          <p:cNvPr id="35" name="Shape 32"/>
          <p:cNvSpPr/>
          <p:nvPr/>
        </p:nvSpPr>
        <p:spPr>
          <a:xfrm>
            <a:off x="320040" y="4078224"/>
            <a:ext cx="2011680" cy="292608"/>
          </a:xfrm>
          <a:prstGeom prst="rect">
            <a:avLst/>
          </a:prstGeom>
          <a:solidFill>
            <a:srgbClr val="FFFFFF"/>
          </a:solidFill>
          <a:ln w="6350">
            <a:solidFill>
              <a:srgbClr val="EF4444"/>
            </a:solidFill>
            <a:prstDash val="solid"/>
          </a:ln>
        </p:spPr>
        <p:txBody>
          <a:bodyPr/>
          <a:lstStyle/>
          <a:p>
            <a:endParaRPr lang="en-IN"/>
          </a:p>
        </p:txBody>
      </p:sp>
      <p:sp>
        <p:nvSpPr>
          <p:cNvPr id="36" name="Text 33"/>
          <p:cNvSpPr/>
          <p:nvPr/>
        </p:nvSpPr>
        <p:spPr>
          <a:xfrm>
            <a:off x="393192" y="4096512"/>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secrets-manager</a:t>
            </a:r>
            <a:endParaRPr lang="en-US" sz="900" dirty="0"/>
          </a:p>
        </p:txBody>
      </p:sp>
      <p:sp>
        <p:nvSpPr>
          <p:cNvPr id="37" name="Shape 34"/>
          <p:cNvSpPr/>
          <p:nvPr/>
        </p:nvSpPr>
        <p:spPr>
          <a:xfrm>
            <a:off x="320040" y="4425696"/>
            <a:ext cx="2011680" cy="292608"/>
          </a:xfrm>
          <a:prstGeom prst="rect">
            <a:avLst/>
          </a:prstGeom>
          <a:solidFill>
            <a:srgbClr val="FFFFFF"/>
          </a:solidFill>
          <a:ln w="6350">
            <a:solidFill>
              <a:srgbClr val="EF4444"/>
            </a:solidFill>
            <a:prstDash val="solid"/>
          </a:ln>
        </p:spPr>
        <p:txBody>
          <a:bodyPr/>
          <a:lstStyle/>
          <a:p>
            <a:endParaRPr lang="en-IN"/>
          </a:p>
        </p:txBody>
      </p:sp>
      <p:sp>
        <p:nvSpPr>
          <p:cNvPr id="38" name="Text 35"/>
          <p:cNvSpPr/>
          <p:nvPr/>
        </p:nvSpPr>
        <p:spPr>
          <a:xfrm>
            <a:off x="393192" y="4443984"/>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iam</a:t>
            </a:r>
            <a:endParaRPr lang="en-US" sz="900" dirty="0"/>
          </a:p>
        </p:txBody>
      </p:sp>
      <p:sp>
        <p:nvSpPr>
          <p:cNvPr id="39" name="Shape 36"/>
          <p:cNvSpPr/>
          <p:nvPr/>
        </p:nvSpPr>
        <p:spPr>
          <a:xfrm>
            <a:off x="320040" y="4773168"/>
            <a:ext cx="2011680" cy="292608"/>
          </a:xfrm>
          <a:prstGeom prst="rect">
            <a:avLst/>
          </a:prstGeom>
          <a:solidFill>
            <a:srgbClr val="FFFFFF"/>
          </a:solidFill>
          <a:ln w="6350">
            <a:solidFill>
              <a:srgbClr val="EF4444"/>
            </a:solidFill>
            <a:prstDash val="solid"/>
          </a:ln>
        </p:spPr>
        <p:txBody>
          <a:bodyPr/>
          <a:lstStyle/>
          <a:p>
            <a:endParaRPr lang="en-IN"/>
          </a:p>
        </p:txBody>
      </p:sp>
      <p:sp>
        <p:nvSpPr>
          <p:cNvPr id="40" name="Text 37"/>
          <p:cNvSpPr/>
          <p:nvPr/>
        </p:nvSpPr>
        <p:spPr>
          <a:xfrm>
            <a:off x="393192" y="4791456"/>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waf</a:t>
            </a:r>
            <a:endParaRPr lang="en-US" sz="900" dirty="0"/>
          </a:p>
        </p:txBody>
      </p:sp>
      <p:sp>
        <p:nvSpPr>
          <p:cNvPr id="41" name="Shape 38"/>
          <p:cNvSpPr/>
          <p:nvPr/>
        </p:nvSpPr>
        <p:spPr>
          <a:xfrm>
            <a:off x="2423160" y="3383280"/>
            <a:ext cx="2011680" cy="292608"/>
          </a:xfrm>
          <a:prstGeom prst="rect">
            <a:avLst/>
          </a:prstGeom>
          <a:solidFill>
            <a:srgbClr val="EAB308"/>
          </a:solidFill>
          <a:ln w="12700">
            <a:solidFill>
              <a:srgbClr val="EAB308"/>
            </a:solidFill>
            <a:prstDash val="solid"/>
          </a:ln>
        </p:spPr>
        <p:txBody>
          <a:bodyPr/>
          <a:lstStyle/>
          <a:p>
            <a:endParaRPr lang="en-IN"/>
          </a:p>
        </p:txBody>
      </p:sp>
      <p:sp>
        <p:nvSpPr>
          <p:cNvPr id="42" name="Text 39"/>
          <p:cNvSpPr/>
          <p:nvPr/>
        </p:nvSpPr>
        <p:spPr>
          <a:xfrm>
            <a:off x="2423160" y="33832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Serverless</a:t>
            </a:r>
            <a:endParaRPr lang="en-US" sz="900" dirty="0"/>
          </a:p>
        </p:txBody>
      </p:sp>
      <p:sp>
        <p:nvSpPr>
          <p:cNvPr id="43" name="Shape 40"/>
          <p:cNvSpPr/>
          <p:nvPr/>
        </p:nvSpPr>
        <p:spPr>
          <a:xfrm>
            <a:off x="2423160" y="3730752"/>
            <a:ext cx="2011680" cy="292608"/>
          </a:xfrm>
          <a:prstGeom prst="rect">
            <a:avLst/>
          </a:prstGeom>
          <a:solidFill>
            <a:srgbClr val="FFFFFF"/>
          </a:solidFill>
          <a:ln w="6350">
            <a:solidFill>
              <a:srgbClr val="EAB308"/>
            </a:solidFill>
            <a:prstDash val="solid"/>
          </a:ln>
        </p:spPr>
        <p:txBody>
          <a:bodyPr/>
          <a:lstStyle/>
          <a:p>
            <a:endParaRPr lang="en-IN"/>
          </a:p>
        </p:txBody>
      </p:sp>
      <p:sp>
        <p:nvSpPr>
          <p:cNvPr id="44" name="Text 41"/>
          <p:cNvSpPr/>
          <p:nvPr/>
        </p:nvSpPr>
        <p:spPr>
          <a:xfrm>
            <a:off x="2496312" y="374904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lambda</a:t>
            </a:r>
            <a:endParaRPr lang="en-US" sz="900" dirty="0"/>
          </a:p>
        </p:txBody>
      </p:sp>
      <p:sp>
        <p:nvSpPr>
          <p:cNvPr id="45" name="Shape 42"/>
          <p:cNvSpPr/>
          <p:nvPr/>
        </p:nvSpPr>
        <p:spPr>
          <a:xfrm>
            <a:off x="4526280" y="3383280"/>
            <a:ext cx="2011680" cy="292608"/>
          </a:xfrm>
          <a:prstGeom prst="rect">
            <a:avLst/>
          </a:prstGeom>
          <a:solidFill>
            <a:srgbClr val="EC4899"/>
          </a:solidFill>
          <a:ln w="12700">
            <a:solidFill>
              <a:srgbClr val="EC4899"/>
            </a:solidFill>
            <a:prstDash val="solid"/>
          </a:ln>
        </p:spPr>
        <p:txBody>
          <a:bodyPr/>
          <a:lstStyle/>
          <a:p>
            <a:endParaRPr lang="en-IN"/>
          </a:p>
        </p:txBody>
      </p:sp>
      <p:sp>
        <p:nvSpPr>
          <p:cNvPr id="46" name="Text 43"/>
          <p:cNvSpPr/>
          <p:nvPr/>
        </p:nvSpPr>
        <p:spPr>
          <a:xfrm>
            <a:off x="4526280" y="33832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Monitoring</a:t>
            </a:r>
            <a:endParaRPr lang="en-US" sz="900" dirty="0"/>
          </a:p>
        </p:txBody>
      </p:sp>
      <p:sp>
        <p:nvSpPr>
          <p:cNvPr id="47" name="Shape 44"/>
          <p:cNvSpPr/>
          <p:nvPr/>
        </p:nvSpPr>
        <p:spPr>
          <a:xfrm>
            <a:off x="4526280" y="3730752"/>
            <a:ext cx="2011680" cy="292608"/>
          </a:xfrm>
          <a:prstGeom prst="rect">
            <a:avLst/>
          </a:prstGeom>
          <a:solidFill>
            <a:srgbClr val="FFFFFF"/>
          </a:solidFill>
          <a:ln w="6350">
            <a:solidFill>
              <a:srgbClr val="EC4899"/>
            </a:solidFill>
            <a:prstDash val="solid"/>
          </a:ln>
        </p:spPr>
        <p:txBody>
          <a:bodyPr/>
          <a:lstStyle/>
          <a:p>
            <a:endParaRPr lang="en-IN"/>
          </a:p>
        </p:txBody>
      </p:sp>
      <p:sp>
        <p:nvSpPr>
          <p:cNvPr id="48" name="Text 45"/>
          <p:cNvSpPr/>
          <p:nvPr/>
        </p:nvSpPr>
        <p:spPr>
          <a:xfrm>
            <a:off x="4599432" y="374904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sns</a:t>
            </a:r>
            <a:endParaRPr lang="en-US" sz="900" dirty="0"/>
          </a:p>
        </p:txBody>
      </p:sp>
      <p:sp>
        <p:nvSpPr>
          <p:cNvPr id="49" name="Shape 46"/>
          <p:cNvSpPr/>
          <p:nvPr/>
        </p:nvSpPr>
        <p:spPr>
          <a:xfrm>
            <a:off x="4526280" y="4078224"/>
            <a:ext cx="2011680" cy="292608"/>
          </a:xfrm>
          <a:prstGeom prst="rect">
            <a:avLst/>
          </a:prstGeom>
          <a:solidFill>
            <a:srgbClr val="FFFFFF"/>
          </a:solidFill>
          <a:ln w="6350">
            <a:solidFill>
              <a:srgbClr val="EC4899"/>
            </a:solidFill>
            <a:prstDash val="solid"/>
          </a:ln>
        </p:spPr>
        <p:txBody>
          <a:bodyPr/>
          <a:lstStyle/>
          <a:p>
            <a:endParaRPr lang="en-IN"/>
          </a:p>
        </p:txBody>
      </p:sp>
      <p:sp>
        <p:nvSpPr>
          <p:cNvPr id="50" name="Text 47"/>
          <p:cNvSpPr/>
          <p:nvPr/>
        </p:nvSpPr>
        <p:spPr>
          <a:xfrm>
            <a:off x="4599432" y="4096512"/>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cloudwatch</a:t>
            </a:r>
            <a:endParaRPr lang="en-US" sz="900" dirty="0"/>
          </a:p>
        </p:txBody>
      </p:sp>
      <p:sp>
        <p:nvSpPr>
          <p:cNvPr id="51" name="Shape 48"/>
          <p:cNvSpPr/>
          <p:nvPr/>
        </p:nvSpPr>
        <p:spPr>
          <a:xfrm>
            <a:off x="6629400" y="3383280"/>
            <a:ext cx="2011680" cy="292608"/>
          </a:xfrm>
          <a:prstGeom prst="rect">
            <a:avLst/>
          </a:prstGeom>
          <a:solidFill>
            <a:srgbClr val="3B82F6"/>
          </a:solidFill>
          <a:ln w="12700">
            <a:solidFill>
              <a:srgbClr val="3B82F6"/>
            </a:solidFill>
            <a:prstDash val="solid"/>
          </a:ln>
        </p:spPr>
        <p:txBody>
          <a:bodyPr/>
          <a:lstStyle/>
          <a:p>
            <a:endParaRPr lang="en-IN"/>
          </a:p>
        </p:txBody>
      </p:sp>
      <p:sp>
        <p:nvSpPr>
          <p:cNvPr id="52" name="Text 49"/>
          <p:cNvSpPr/>
          <p:nvPr/>
        </p:nvSpPr>
        <p:spPr>
          <a:xfrm>
            <a:off x="6629400" y="338328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Edge</a:t>
            </a:r>
            <a:endParaRPr lang="en-US" sz="900" dirty="0"/>
          </a:p>
        </p:txBody>
      </p:sp>
      <p:sp>
        <p:nvSpPr>
          <p:cNvPr id="53" name="Shape 50"/>
          <p:cNvSpPr/>
          <p:nvPr/>
        </p:nvSpPr>
        <p:spPr>
          <a:xfrm>
            <a:off x="6629400" y="3730752"/>
            <a:ext cx="2011680" cy="292608"/>
          </a:xfrm>
          <a:prstGeom prst="rect">
            <a:avLst/>
          </a:prstGeom>
          <a:solidFill>
            <a:srgbClr val="FFFFFF"/>
          </a:solidFill>
          <a:ln w="6350">
            <a:solidFill>
              <a:srgbClr val="3B82F6"/>
            </a:solidFill>
            <a:prstDash val="solid"/>
          </a:ln>
        </p:spPr>
        <p:txBody>
          <a:bodyPr/>
          <a:lstStyle/>
          <a:p>
            <a:endParaRPr lang="en-IN"/>
          </a:p>
        </p:txBody>
      </p:sp>
      <p:sp>
        <p:nvSpPr>
          <p:cNvPr id="54" name="Text 51"/>
          <p:cNvSpPr/>
          <p:nvPr/>
        </p:nvSpPr>
        <p:spPr>
          <a:xfrm>
            <a:off x="6702552" y="3749040"/>
            <a:ext cx="1828800" cy="256032"/>
          </a:xfrm>
          <a:prstGeom prst="rect">
            <a:avLst/>
          </a:prstGeom>
          <a:noFill/>
          <a:ln/>
        </p:spPr>
        <p:txBody>
          <a:bodyPr wrap="square" lIns="0" tIns="0" rIns="0" bIns="0" rtlCol="0" anchor="ctr"/>
          <a:lstStyle/>
          <a:p>
            <a:pPr marL="0" indent="0">
              <a:buNone/>
            </a:pPr>
            <a:r>
              <a:rPr lang="en-US" sz="900" dirty="0">
                <a:solidFill>
                  <a:srgbClr val="1E293B"/>
                </a:solidFill>
                <a:latin typeface="Courier New" pitchFamily="34" charset="0"/>
                <a:ea typeface="Courier New" pitchFamily="34" charset="-122"/>
                <a:cs typeface="Courier New" pitchFamily="34" charset="-120"/>
              </a:rPr>
              <a:t>📁 cloudfront</a:t>
            </a:r>
            <a:endParaRPr lang="en-US" sz="900" dirty="0"/>
          </a:p>
        </p:txBody>
      </p:sp>
      <p:sp>
        <p:nvSpPr>
          <p:cNvPr id="55" name="Text 52"/>
          <p:cNvSpPr/>
          <p:nvPr/>
        </p:nvSpPr>
        <p:spPr>
          <a:xfrm>
            <a:off x="320040" y="4828032"/>
            <a:ext cx="8503920" cy="2011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Each module contains:  main.tf  ·  variables.tf  ·  outputs.tf</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Terraform Remote Backend</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S3 state storage + DynamoDB locking for team-safe deployments</a:t>
            </a:r>
            <a:endParaRPr lang="en-US" sz="1100" dirty="0"/>
          </a:p>
        </p:txBody>
      </p:sp>
      <p:sp>
        <p:nvSpPr>
          <p:cNvPr id="5" name="Shape 3"/>
          <p:cNvSpPr/>
          <p:nvPr/>
        </p:nvSpPr>
        <p:spPr>
          <a:xfrm>
            <a:off x="320040" y="1005840"/>
            <a:ext cx="4023360" cy="7772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6" name="Shape 4"/>
          <p:cNvSpPr/>
          <p:nvPr/>
        </p:nvSpPr>
        <p:spPr>
          <a:xfrm>
            <a:off x="411480" y="1138428"/>
            <a:ext cx="512064" cy="512064"/>
          </a:xfrm>
          <a:prstGeom prst="line">
            <a:avLst/>
          </a:prstGeom>
          <a:solidFill>
            <a:srgbClr val="14B8A6"/>
          </a:solidFill>
          <a:ln w="12700">
            <a:solidFill>
              <a:srgbClr val="14B8A6"/>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13893" y="1240841"/>
            <a:ext cx="307238" cy="307238"/>
          </a:xfrm>
          <a:prstGeom prst="rect">
            <a:avLst/>
          </a:prstGeom>
        </p:spPr>
      </p:pic>
      <p:sp>
        <p:nvSpPr>
          <p:cNvPr id="8" name="Text 5"/>
          <p:cNvSpPr/>
          <p:nvPr/>
        </p:nvSpPr>
        <p:spPr>
          <a:xfrm>
            <a:off x="1024128" y="1078992"/>
            <a:ext cx="32004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State Storage</a:t>
            </a:r>
            <a:endParaRPr lang="en-US" sz="1300" dirty="0"/>
          </a:p>
        </p:txBody>
      </p:sp>
      <p:sp>
        <p:nvSpPr>
          <p:cNvPr id="9" name="Text 6"/>
          <p:cNvSpPr/>
          <p:nvPr/>
        </p:nvSpPr>
        <p:spPr>
          <a:xfrm>
            <a:off x="1024128" y="1389888"/>
            <a:ext cx="32004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terraform.tfstate stored in S3 — encrypted, versioned</a:t>
            </a:r>
            <a:endParaRPr lang="en-US" sz="1000" dirty="0"/>
          </a:p>
        </p:txBody>
      </p:sp>
      <p:sp>
        <p:nvSpPr>
          <p:cNvPr id="10" name="Shape 7"/>
          <p:cNvSpPr/>
          <p:nvPr/>
        </p:nvSpPr>
        <p:spPr>
          <a:xfrm>
            <a:off x="320040" y="1920240"/>
            <a:ext cx="4023360" cy="7772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1" name="Shape 8"/>
          <p:cNvSpPr/>
          <p:nvPr/>
        </p:nvSpPr>
        <p:spPr>
          <a:xfrm>
            <a:off x="411480" y="2052828"/>
            <a:ext cx="512064" cy="512064"/>
          </a:xfrm>
          <a:prstGeom prst="line">
            <a:avLst/>
          </a:prstGeom>
          <a:solidFill>
            <a:srgbClr val="0073BB"/>
          </a:solidFill>
          <a:ln w="12700">
            <a:solidFill>
              <a:srgbClr val="0073BB"/>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13893" y="2155241"/>
            <a:ext cx="307238" cy="307238"/>
          </a:xfrm>
          <a:prstGeom prst="rect">
            <a:avLst/>
          </a:prstGeom>
        </p:spPr>
      </p:pic>
      <p:sp>
        <p:nvSpPr>
          <p:cNvPr id="13" name="Text 9"/>
          <p:cNvSpPr/>
          <p:nvPr/>
        </p:nvSpPr>
        <p:spPr>
          <a:xfrm>
            <a:off x="1024128" y="1993392"/>
            <a:ext cx="32004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Team Collaboration</a:t>
            </a:r>
            <a:endParaRPr lang="en-US" sz="1300" dirty="0"/>
          </a:p>
        </p:txBody>
      </p:sp>
      <p:sp>
        <p:nvSpPr>
          <p:cNvPr id="14" name="Text 10"/>
          <p:cNvSpPr/>
          <p:nvPr/>
        </p:nvSpPr>
        <p:spPr>
          <a:xfrm>
            <a:off x="1024128" y="2304288"/>
            <a:ext cx="32004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Multiple engineers share the same state safely</a:t>
            </a:r>
            <a:endParaRPr lang="en-US" sz="1000" dirty="0"/>
          </a:p>
        </p:txBody>
      </p:sp>
      <p:sp>
        <p:nvSpPr>
          <p:cNvPr id="15" name="Shape 11"/>
          <p:cNvSpPr/>
          <p:nvPr/>
        </p:nvSpPr>
        <p:spPr>
          <a:xfrm>
            <a:off x="320040" y="2834640"/>
            <a:ext cx="4023360" cy="7772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6" name="Shape 12"/>
          <p:cNvSpPr/>
          <p:nvPr/>
        </p:nvSpPr>
        <p:spPr>
          <a:xfrm>
            <a:off x="411480" y="2967228"/>
            <a:ext cx="512064" cy="512064"/>
          </a:xfrm>
          <a:prstGeom prst="line">
            <a:avLst/>
          </a:prstGeom>
          <a:solidFill>
            <a:srgbClr val="EF4444"/>
          </a:solidFill>
          <a:ln w="12700">
            <a:solidFill>
              <a:srgbClr val="EF4444"/>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513893" y="3069641"/>
            <a:ext cx="307238" cy="307238"/>
          </a:xfrm>
          <a:prstGeom prst="rect">
            <a:avLst/>
          </a:prstGeom>
        </p:spPr>
      </p:pic>
      <p:sp>
        <p:nvSpPr>
          <p:cNvPr id="18" name="Text 13"/>
          <p:cNvSpPr/>
          <p:nvPr/>
        </p:nvSpPr>
        <p:spPr>
          <a:xfrm>
            <a:off x="1024128" y="2907792"/>
            <a:ext cx="32004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State Locking</a:t>
            </a:r>
            <a:endParaRPr lang="en-US" sz="1300" dirty="0"/>
          </a:p>
        </p:txBody>
      </p:sp>
      <p:sp>
        <p:nvSpPr>
          <p:cNvPr id="19" name="Text 14"/>
          <p:cNvSpPr/>
          <p:nvPr/>
        </p:nvSpPr>
        <p:spPr>
          <a:xfrm>
            <a:off x="1024128" y="3218688"/>
            <a:ext cx="32004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DynamoDB prevents concurrent apply operations</a:t>
            </a:r>
            <a:endParaRPr lang="en-US" sz="1000" dirty="0"/>
          </a:p>
        </p:txBody>
      </p:sp>
      <p:sp>
        <p:nvSpPr>
          <p:cNvPr id="20" name="Shape 15"/>
          <p:cNvSpPr/>
          <p:nvPr/>
        </p:nvSpPr>
        <p:spPr>
          <a:xfrm>
            <a:off x="320040" y="3749040"/>
            <a:ext cx="4023360" cy="77724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1" name="Shape 16"/>
          <p:cNvSpPr/>
          <p:nvPr/>
        </p:nvSpPr>
        <p:spPr>
          <a:xfrm>
            <a:off x="411480" y="3881628"/>
            <a:ext cx="512064" cy="512064"/>
          </a:xfrm>
          <a:prstGeom prst="line">
            <a:avLst/>
          </a:prstGeom>
          <a:solidFill>
            <a:srgbClr val="F97316"/>
          </a:solidFill>
          <a:ln w="12700">
            <a:solidFill>
              <a:srgbClr val="F97316"/>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513893" y="3984041"/>
            <a:ext cx="307238" cy="307238"/>
          </a:xfrm>
          <a:prstGeom prst="rect">
            <a:avLst/>
          </a:prstGeom>
        </p:spPr>
      </p:pic>
      <p:sp>
        <p:nvSpPr>
          <p:cNvPr id="23" name="Text 17"/>
          <p:cNvSpPr/>
          <p:nvPr/>
        </p:nvSpPr>
        <p:spPr>
          <a:xfrm>
            <a:off x="1024128" y="3822192"/>
            <a:ext cx="32004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Disaster Recovery</a:t>
            </a:r>
            <a:endParaRPr lang="en-US" sz="1300" dirty="0"/>
          </a:p>
        </p:txBody>
      </p:sp>
      <p:sp>
        <p:nvSpPr>
          <p:cNvPr id="24" name="Text 18"/>
          <p:cNvSpPr/>
          <p:nvPr/>
        </p:nvSpPr>
        <p:spPr>
          <a:xfrm>
            <a:off x="1024128" y="4133088"/>
            <a:ext cx="3200400" cy="29260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State file versioned — roll back to any past state</a:t>
            </a:r>
            <a:endParaRPr lang="en-US" sz="1000" dirty="0"/>
          </a:p>
        </p:txBody>
      </p:sp>
      <p:sp>
        <p:nvSpPr>
          <p:cNvPr id="25" name="Shape 19"/>
          <p:cNvSpPr/>
          <p:nvPr/>
        </p:nvSpPr>
        <p:spPr>
          <a:xfrm>
            <a:off x="4663440" y="1005840"/>
            <a:ext cx="4160520" cy="3794760"/>
          </a:xfrm>
          <a:prstGeom prst="rect">
            <a:avLst/>
          </a:prstGeom>
          <a:solidFill>
            <a:srgbClr val="1A2C42"/>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26" name="Text 20"/>
          <p:cNvSpPr/>
          <p:nvPr/>
        </p:nvSpPr>
        <p:spPr>
          <a:xfrm>
            <a:off x="4754880" y="1069848"/>
            <a:ext cx="3977640" cy="320040"/>
          </a:xfrm>
          <a:prstGeom prst="rect">
            <a:avLst/>
          </a:prstGeom>
          <a:noFill/>
          <a:ln/>
        </p:spPr>
        <p:txBody>
          <a:bodyPr wrap="square" lIns="0" tIns="0" rIns="0" bIns="0" rtlCol="0" anchor="ctr"/>
          <a:lstStyle/>
          <a:p>
            <a:pPr marL="0" indent="0" algn="ctr">
              <a:buNone/>
            </a:pPr>
            <a:r>
              <a:rPr lang="en-US" sz="1300" b="1" dirty="0">
                <a:solidFill>
                  <a:srgbClr val="FF9900"/>
                </a:solidFill>
                <a:latin typeface="Cambria" pitchFamily="34" charset="0"/>
                <a:ea typeface="Cambria" pitchFamily="34" charset="-122"/>
                <a:cs typeface="Cambria" pitchFamily="34" charset="-120"/>
              </a:rPr>
              <a:t>Remote Backend Architecture</a:t>
            </a:r>
            <a:endParaRPr lang="en-US" sz="1300" dirty="0"/>
          </a:p>
        </p:txBody>
      </p:sp>
      <p:sp>
        <p:nvSpPr>
          <p:cNvPr id="27" name="Shape 21"/>
          <p:cNvSpPr/>
          <p:nvPr/>
        </p:nvSpPr>
        <p:spPr>
          <a:xfrm>
            <a:off x="5760720" y="1508760"/>
            <a:ext cx="1554480" cy="566928"/>
          </a:xfrm>
          <a:prstGeom prst="rect">
            <a:avLst/>
          </a:prstGeom>
          <a:solidFill>
            <a:srgbClr val="7C3AED"/>
          </a:solidFill>
          <a:ln w="12700">
            <a:solidFill>
              <a:srgbClr val="7C3AED"/>
            </a:solidFill>
            <a:prstDash val="solid"/>
          </a:ln>
          <a:effectLst>
            <a:outerShdw blurRad="101600" dist="25400" dir="2700000" algn="bl" rotWithShape="0">
              <a:srgbClr val="000000">
                <a:alpha val="12000"/>
              </a:srgbClr>
            </a:outerShdw>
          </a:effectLst>
        </p:spPr>
        <p:txBody>
          <a:bodyPr/>
          <a:lstStyle/>
          <a:p>
            <a:endParaRPr lang="en-IN"/>
          </a:p>
        </p:txBody>
      </p:sp>
      <p:pic>
        <p:nvPicPr>
          <p:cNvPr id="28" name="Image 4" descr="preencoded.png"/>
          <p:cNvPicPr>
            <a:picLocks noChangeAspect="1"/>
          </p:cNvPicPr>
          <p:nvPr/>
        </p:nvPicPr>
        <p:blipFill>
          <a:blip r:embed="rId7"/>
          <a:stretch>
            <a:fillRect/>
          </a:stretch>
        </p:blipFill>
        <p:spPr>
          <a:xfrm>
            <a:off x="5852160" y="1572768"/>
            <a:ext cx="292608" cy="292608"/>
          </a:xfrm>
          <a:prstGeom prst="rect">
            <a:avLst/>
          </a:prstGeom>
        </p:spPr>
      </p:pic>
      <p:sp>
        <p:nvSpPr>
          <p:cNvPr id="29" name="Text 22"/>
          <p:cNvSpPr/>
          <p:nvPr/>
        </p:nvSpPr>
        <p:spPr>
          <a:xfrm>
            <a:off x="6163056" y="1572768"/>
            <a:ext cx="1078992"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Terraform CLI</a:t>
            </a:r>
            <a:endParaRPr lang="en-US" sz="1000" dirty="0"/>
          </a:p>
        </p:txBody>
      </p:sp>
      <p:sp>
        <p:nvSpPr>
          <p:cNvPr id="30" name="Text 23"/>
          <p:cNvSpPr/>
          <p:nvPr/>
        </p:nvSpPr>
        <p:spPr>
          <a:xfrm>
            <a:off x="5760720" y="1828800"/>
            <a:ext cx="1554480" cy="182880"/>
          </a:xfrm>
          <a:prstGeom prst="rect">
            <a:avLst/>
          </a:prstGeom>
          <a:noFill/>
          <a:ln/>
        </p:spPr>
        <p:txBody>
          <a:bodyPr wrap="square" lIns="0" tIns="0" rIns="0" bIns="0" rtlCol="0" anchor="ctr"/>
          <a:lstStyle/>
          <a:p>
            <a:pPr marL="0" indent="0" algn="ctr">
              <a:buNone/>
            </a:pPr>
            <a:r>
              <a:rPr lang="en-US" sz="850" dirty="0">
                <a:solidFill>
                  <a:srgbClr val="D0C4FF"/>
                </a:solidFill>
                <a:latin typeface="Courier New" pitchFamily="34" charset="0"/>
                <a:ea typeface="Courier New" pitchFamily="34" charset="-122"/>
                <a:cs typeface="Courier New" pitchFamily="34" charset="-120"/>
              </a:rPr>
              <a:t>terraform apply</a:t>
            </a:r>
            <a:endParaRPr lang="en-US" sz="850" dirty="0"/>
          </a:p>
        </p:txBody>
      </p:sp>
      <p:sp>
        <p:nvSpPr>
          <p:cNvPr id="31" name="Shape 24"/>
          <p:cNvSpPr/>
          <p:nvPr/>
        </p:nvSpPr>
        <p:spPr>
          <a:xfrm>
            <a:off x="6537960" y="2395728"/>
            <a:ext cx="0" cy="393192"/>
          </a:xfrm>
          <a:prstGeom prst="line">
            <a:avLst/>
          </a:prstGeom>
          <a:noFill/>
          <a:ln w="25400">
            <a:solidFill>
              <a:srgbClr val="FF9900"/>
            </a:solidFill>
            <a:prstDash val="solid"/>
            <a:tailEnd type="arrow"/>
          </a:ln>
        </p:spPr>
        <p:txBody>
          <a:bodyPr/>
          <a:lstStyle/>
          <a:p>
            <a:endParaRPr lang="en-IN"/>
          </a:p>
        </p:txBody>
      </p:sp>
      <p:sp>
        <p:nvSpPr>
          <p:cNvPr id="32" name="Shape 25"/>
          <p:cNvSpPr/>
          <p:nvPr/>
        </p:nvSpPr>
        <p:spPr>
          <a:xfrm>
            <a:off x="4800600" y="2852928"/>
            <a:ext cx="1554480" cy="749808"/>
          </a:xfrm>
          <a:prstGeom prst="rect">
            <a:avLst/>
          </a:prstGeom>
          <a:solidFill>
            <a:srgbClr val="14B8A6"/>
          </a:solidFill>
          <a:ln w="12700">
            <a:solidFill>
              <a:srgbClr val="14B8A6"/>
            </a:solidFill>
            <a:prstDash val="solid"/>
          </a:ln>
          <a:effectLst>
            <a:outerShdw blurRad="101600" dist="25400" dir="2700000" algn="bl" rotWithShape="0">
              <a:srgbClr val="000000">
                <a:alpha val="12000"/>
              </a:srgbClr>
            </a:outerShdw>
          </a:effectLst>
        </p:spPr>
        <p:txBody>
          <a:bodyPr/>
          <a:lstStyle/>
          <a:p>
            <a:endParaRPr lang="en-IN"/>
          </a:p>
        </p:txBody>
      </p:sp>
      <p:pic>
        <p:nvPicPr>
          <p:cNvPr id="33" name="Image 5" descr="preencoded.png"/>
          <p:cNvPicPr>
            <a:picLocks noChangeAspect="1"/>
          </p:cNvPicPr>
          <p:nvPr/>
        </p:nvPicPr>
        <p:blipFill>
          <a:blip r:embed="rId8"/>
          <a:stretch>
            <a:fillRect/>
          </a:stretch>
        </p:blipFill>
        <p:spPr>
          <a:xfrm>
            <a:off x="4892040" y="2944368"/>
            <a:ext cx="292608" cy="292608"/>
          </a:xfrm>
          <a:prstGeom prst="rect">
            <a:avLst/>
          </a:prstGeom>
        </p:spPr>
      </p:pic>
      <p:sp>
        <p:nvSpPr>
          <p:cNvPr id="34" name="Text 26"/>
          <p:cNvSpPr/>
          <p:nvPr/>
        </p:nvSpPr>
        <p:spPr>
          <a:xfrm>
            <a:off x="5212080" y="2944368"/>
            <a:ext cx="105156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S3 Bucket</a:t>
            </a:r>
            <a:endParaRPr lang="en-US" sz="1000" dirty="0"/>
          </a:p>
        </p:txBody>
      </p:sp>
      <p:sp>
        <p:nvSpPr>
          <p:cNvPr id="35" name="Text 27"/>
          <p:cNvSpPr/>
          <p:nvPr/>
        </p:nvSpPr>
        <p:spPr>
          <a:xfrm>
            <a:off x="4800600" y="3255264"/>
            <a:ext cx="1554480" cy="292608"/>
          </a:xfrm>
          <a:prstGeom prst="rect">
            <a:avLst/>
          </a:prstGeom>
          <a:noFill/>
          <a:ln/>
        </p:spPr>
        <p:txBody>
          <a:bodyPr wrap="square" lIns="0" tIns="0" rIns="0" bIns="0" rtlCol="0" anchor="ctr"/>
          <a:lstStyle/>
          <a:p>
            <a:pPr marL="0" indent="0" algn="ctr">
              <a:buNone/>
            </a:pPr>
            <a:r>
              <a:rPr lang="en-US" sz="800" dirty="0">
                <a:solidFill>
                  <a:srgbClr val="C4EDE8"/>
                </a:solidFill>
                <a:latin typeface="Calibri" pitchFamily="34" charset="0"/>
                <a:ea typeface="Calibri" pitchFamily="34" charset="-122"/>
                <a:cs typeface="Calibri" pitchFamily="34" charset="-120"/>
              </a:rPr>
              <a:t>terraform.tfstate</a:t>
            </a:r>
            <a:endParaRPr lang="en-US" sz="800" dirty="0"/>
          </a:p>
          <a:p>
            <a:pPr marL="0" indent="0" algn="ctr">
              <a:buNone/>
            </a:pPr>
            <a:r>
              <a:rPr lang="en-US" sz="800" dirty="0">
                <a:solidFill>
                  <a:srgbClr val="C4EDE8"/>
                </a:solidFill>
                <a:latin typeface="Calibri" pitchFamily="34" charset="0"/>
                <a:ea typeface="Calibri" pitchFamily="34" charset="-122"/>
                <a:cs typeface="Calibri" pitchFamily="34" charset="-120"/>
              </a:rPr>
              <a:t>KMS encrypted</a:t>
            </a:r>
            <a:endParaRPr lang="en-US" sz="800" dirty="0"/>
          </a:p>
        </p:txBody>
      </p:sp>
      <p:sp>
        <p:nvSpPr>
          <p:cNvPr id="36" name="Text 28"/>
          <p:cNvSpPr/>
          <p:nvPr/>
        </p:nvSpPr>
        <p:spPr>
          <a:xfrm>
            <a:off x="5212080" y="2578608"/>
            <a:ext cx="548640" cy="201168"/>
          </a:xfrm>
          <a:prstGeom prst="rect">
            <a:avLst/>
          </a:prstGeom>
          <a:noFill/>
          <a:ln/>
        </p:spPr>
        <p:txBody>
          <a:bodyPr wrap="square" lIns="0" tIns="0" rIns="0" bIns="0" rtlCol="0" anchor="ctr"/>
          <a:lstStyle/>
          <a:p>
            <a:pPr marL="0" indent="0" algn="ctr">
              <a:buNone/>
            </a:pPr>
            <a:r>
              <a:rPr lang="en-US" sz="800" dirty="0">
                <a:solidFill>
                  <a:srgbClr val="FF9900"/>
                </a:solidFill>
                <a:latin typeface="Calibri" pitchFamily="34" charset="0"/>
                <a:ea typeface="Calibri" pitchFamily="34" charset="-122"/>
                <a:cs typeface="Calibri" pitchFamily="34" charset="-120"/>
              </a:rPr>
              <a:t>STATE</a:t>
            </a:r>
            <a:endParaRPr lang="en-US" sz="800" dirty="0"/>
          </a:p>
        </p:txBody>
      </p:sp>
      <p:sp>
        <p:nvSpPr>
          <p:cNvPr id="37" name="Shape 29"/>
          <p:cNvSpPr/>
          <p:nvPr/>
        </p:nvSpPr>
        <p:spPr>
          <a:xfrm>
            <a:off x="6537960" y="2395728"/>
            <a:ext cx="338328" cy="393192"/>
          </a:xfrm>
          <a:prstGeom prst="line">
            <a:avLst/>
          </a:prstGeom>
          <a:noFill/>
          <a:ln w="25400">
            <a:solidFill>
              <a:srgbClr val="FF9900"/>
            </a:solidFill>
            <a:prstDash val="solid"/>
            <a:tailEnd type="arrow"/>
          </a:ln>
        </p:spPr>
        <p:txBody>
          <a:bodyPr/>
          <a:lstStyle/>
          <a:p>
            <a:endParaRPr lang="en-IN"/>
          </a:p>
        </p:txBody>
      </p:sp>
      <p:sp>
        <p:nvSpPr>
          <p:cNvPr id="38" name="Shape 30"/>
          <p:cNvSpPr/>
          <p:nvPr/>
        </p:nvSpPr>
        <p:spPr>
          <a:xfrm>
            <a:off x="6720840" y="2852928"/>
            <a:ext cx="1554480" cy="749808"/>
          </a:xfrm>
          <a:prstGeom prst="rect">
            <a:avLst/>
          </a:prstGeom>
          <a:solidFill>
            <a:srgbClr val="A855F7"/>
          </a:solidFill>
          <a:ln w="12700">
            <a:solidFill>
              <a:srgbClr val="A855F7"/>
            </a:solidFill>
            <a:prstDash val="solid"/>
          </a:ln>
          <a:effectLst>
            <a:outerShdw blurRad="101600" dist="25400" dir="2700000" algn="bl" rotWithShape="0">
              <a:srgbClr val="000000">
                <a:alpha val="12000"/>
              </a:srgbClr>
            </a:outerShdw>
          </a:effectLst>
        </p:spPr>
        <p:txBody>
          <a:bodyPr/>
          <a:lstStyle/>
          <a:p>
            <a:endParaRPr lang="en-IN"/>
          </a:p>
        </p:txBody>
      </p:sp>
      <p:pic>
        <p:nvPicPr>
          <p:cNvPr id="39" name="Image 6" descr="preencoded.png"/>
          <p:cNvPicPr>
            <a:picLocks noChangeAspect="1"/>
          </p:cNvPicPr>
          <p:nvPr/>
        </p:nvPicPr>
        <p:blipFill>
          <a:blip r:embed="rId9"/>
          <a:stretch>
            <a:fillRect/>
          </a:stretch>
        </p:blipFill>
        <p:spPr>
          <a:xfrm>
            <a:off x="6812280" y="2944368"/>
            <a:ext cx="292608" cy="292608"/>
          </a:xfrm>
          <a:prstGeom prst="rect">
            <a:avLst/>
          </a:prstGeom>
        </p:spPr>
      </p:pic>
      <p:sp>
        <p:nvSpPr>
          <p:cNvPr id="40" name="Text 31"/>
          <p:cNvSpPr/>
          <p:nvPr/>
        </p:nvSpPr>
        <p:spPr>
          <a:xfrm>
            <a:off x="7132320" y="2944368"/>
            <a:ext cx="105156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DynamoDB</a:t>
            </a:r>
            <a:endParaRPr lang="en-US" sz="1000" dirty="0"/>
          </a:p>
        </p:txBody>
      </p:sp>
      <p:sp>
        <p:nvSpPr>
          <p:cNvPr id="41" name="Text 32"/>
          <p:cNvSpPr/>
          <p:nvPr/>
        </p:nvSpPr>
        <p:spPr>
          <a:xfrm>
            <a:off x="6720840" y="3255264"/>
            <a:ext cx="1554480" cy="292608"/>
          </a:xfrm>
          <a:prstGeom prst="rect">
            <a:avLst/>
          </a:prstGeom>
          <a:noFill/>
          <a:ln/>
        </p:spPr>
        <p:txBody>
          <a:bodyPr wrap="square" lIns="0" tIns="0" rIns="0" bIns="0" rtlCol="0" anchor="ctr"/>
          <a:lstStyle/>
          <a:p>
            <a:pPr marL="0" indent="0" algn="ctr">
              <a:buNone/>
            </a:pPr>
            <a:r>
              <a:rPr lang="en-US" sz="800" dirty="0">
                <a:solidFill>
                  <a:srgbClr val="D4BAFF"/>
                </a:solidFill>
                <a:latin typeface="Calibri" pitchFamily="34" charset="0"/>
                <a:ea typeface="Calibri" pitchFamily="34" charset="-122"/>
                <a:cs typeface="Calibri" pitchFamily="34" charset="-120"/>
              </a:rPr>
              <a:t>terraform-lock</a:t>
            </a:r>
            <a:endParaRPr lang="en-US" sz="800" dirty="0"/>
          </a:p>
          <a:p>
            <a:pPr marL="0" indent="0" algn="ctr">
              <a:buNone/>
            </a:pPr>
            <a:r>
              <a:rPr lang="en-US" sz="800" dirty="0">
                <a:solidFill>
                  <a:srgbClr val="D4BAFF"/>
                </a:solidFill>
                <a:latin typeface="Calibri" pitchFamily="34" charset="0"/>
                <a:ea typeface="Calibri" pitchFamily="34" charset="-122"/>
                <a:cs typeface="Calibri" pitchFamily="34" charset="-120"/>
              </a:rPr>
              <a:t>State locking</a:t>
            </a:r>
            <a:endParaRPr lang="en-US" sz="800" dirty="0"/>
          </a:p>
        </p:txBody>
      </p:sp>
      <p:sp>
        <p:nvSpPr>
          <p:cNvPr id="42" name="Text 33"/>
          <p:cNvSpPr/>
          <p:nvPr/>
        </p:nvSpPr>
        <p:spPr>
          <a:xfrm>
            <a:off x="7086600" y="2578608"/>
            <a:ext cx="548640" cy="201168"/>
          </a:xfrm>
          <a:prstGeom prst="rect">
            <a:avLst/>
          </a:prstGeom>
          <a:noFill/>
          <a:ln/>
        </p:spPr>
        <p:txBody>
          <a:bodyPr wrap="square" lIns="0" tIns="0" rIns="0" bIns="0" rtlCol="0" anchor="ctr"/>
          <a:lstStyle/>
          <a:p>
            <a:pPr marL="0" indent="0" algn="ctr">
              <a:buNone/>
            </a:pPr>
            <a:r>
              <a:rPr lang="en-US" sz="800" dirty="0">
                <a:solidFill>
                  <a:srgbClr val="FF9900"/>
                </a:solidFill>
                <a:latin typeface="Calibri" pitchFamily="34" charset="0"/>
                <a:ea typeface="Calibri" pitchFamily="34" charset="-122"/>
                <a:cs typeface="Calibri" pitchFamily="34" charset="-120"/>
              </a:rPr>
              <a:t>LOCK</a:t>
            </a:r>
            <a:endParaRPr lang="en-US" sz="800" dirty="0"/>
          </a:p>
        </p:txBody>
      </p:sp>
      <p:pic>
        <p:nvPicPr>
          <p:cNvPr id="43" name="Image 7" descr="preencoded.png"/>
          <p:cNvPicPr>
            <a:picLocks noChangeAspect="1"/>
          </p:cNvPicPr>
          <p:nvPr/>
        </p:nvPicPr>
        <p:blipFill>
          <a:blip r:embed="rId10"/>
          <a:stretch>
            <a:fillRect/>
          </a:stretch>
        </p:blipFill>
        <p:spPr>
          <a:xfrm>
            <a:off x="4800600" y="3858768"/>
            <a:ext cx="365760" cy="365760"/>
          </a:xfrm>
          <a:prstGeom prst="rect">
            <a:avLst/>
          </a:prstGeom>
        </p:spPr>
      </p:pic>
      <p:sp>
        <p:nvSpPr>
          <p:cNvPr id="44" name="Text 34"/>
          <p:cNvSpPr/>
          <p:nvPr/>
        </p:nvSpPr>
        <p:spPr>
          <a:xfrm>
            <a:off x="5257800" y="3877056"/>
            <a:ext cx="3474720" cy="320040"/>
          </a:xfrm>
          <a:prstGeom prst="rect">
            <a:avLst/>
          </a:prstGeom>
          <a:noFill/>
          <a:ln/>
        </p:spPr>
        <p:txBody>
          <a:bodyPr wrap="square" lIns="0" tIns="0" rIns="0" bIns="0" rtlCol="0" anchor="ctr"/>
          <a:lstStyle/>
          <a:p>
            <a:pPr marL="0" indent="0">
              <a:buNone/>
            </a:pPr>
            <a:r>
              <a:rPr lang="en-US" sz="900" i="1" dirty="0">
                <a:solidFill>
                  <a:srgbClr val="A0BDD0"/>
                </a:solidFill>
                <a:latin typeface="Calibri" pitchFamily="34" charset="0"/>
                <a:ea typeface="Calibri" pitchFamily="34" charset="-122"/>
                <a:cs typeface="Calibri" pitchFamily="34" charset="-120"/>
              </a:rPr>
              <a:t>Both resources provisioned by Terraform itself during bootstrap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txBody>
          <a:bodyPr/>
          <a:lstStyle/>
          <a:p>
            <a:endParaRPr lang="en-IN"/>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Security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Layered defence: IAM · KMS · Secrets Manager · WAF</a:t>
            </a:r>
            <a:endParaRPr lang="en-US" sz="1100" dirty="0"/>
          </a:p>
        </p:txBody>
      </p:sp>
      <p:sp>
        <p:nvSpPr>
          <p:cNvPr id="5" name="Shape 3"/>
          <p:cNvSpPr/>
          <p:nvPr/>
        </p:nvSpPr>
        <p:spPr>
          <a:xfrm>
            <a:off x="320040" y="987552"/>
            <a:ext cx="4160520" cy="18288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6" name="Shape 4"/>
          <p:cNvSpPr/>
          <p:nvPr/>
        </p:nvSpPr>
        <p:spPr>
          <a:xfrm>
            <a:off x="320040" y="987552"/>
            <a:ext cx="4160520" cy="384048"/>
          </a:xfrm>
          <a:prstGeom prst="rect">
            <a:avLst/>
          </a:prstGeom>
          <a:solidFill>
            <a:srgbClr val="3B82F6"/>
          </a:solidFill>
          <a:ln w="12700">
            <a:solidFill>
              <a:srgbClr val="3B82F6"/>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411480" y="1051560"/>
            <a:ext cx="228600" cy="228600"/>
          </a:xfrm>
          <a:prstGeom prst="rect">
            <a:avLst/>
          </a:prstGeom>
        </p:spPr>
      </p:pic>
      <p:sp>
        <p:nvSpPr>
          <p:cNvPr id="8" name="Text 5"/>
          <p:cNvSpPr/>
          <p:nvPr/>
        </p:nvSpPr>
        <p:spPr>
          <a:xfrm>
            <a:off x="704088" y="1051560"/>
            <a:ext cx="36850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1 — Edge Protection</a:t>
            </a:r>
            <a:endParaRPr lang="en-US" sz="1100" dirty="0"/>
          </a:p>
        </p:txBody>
      </p:sp>
      <p:sp>
        <p:nvSpPr>
          <p:cNvPr id="9" name="Shape 6"/>
          <p:cNvSpPr/>
          <p:nvPr/>
        </p:nvSpPr>
        <p:spPr>
          <a:xfrm>
            <a:off x="521208" y="1536192"/>
            <a:ext cx="64008" cy="64008"/>
          </a:xfrm>
          <a:prstGeom prst="line">
            <a:avLst/>
          </a:prstGeom>
          <a:solidFill>
            <a:srgbClr val="3B82F6"/>
          </a:solidFill>
          <a:ln w="12700">
            <a:solidFill>
              <a:srgbClr val="3B82F6"/>
            </a:solidFill>
            <a:prstDash val="solid"/>
          </a:ln>
        </p:spPr>
        <p:txBody>
          <a:bodyPr/>
          <a:lstStyle/>
          <a:p>
            <a:endParaRPr lang="en-IN"/>
          </a:p>
        </p:txBody>
      </p:sp>
      <p:sp>
        <p:nvSpPr>
          <p:cNvPr id="10" name="Text 7"/>
          <p:cNvSpPr/>
          <p:nvPr/>
        </p:nvSpPr>
        <p:spPr>
          <a:xfrm>
            <a:off x="640080" y="1463040"/>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WAF Rate Limiting Rule</a:t>
            </a:r>
            <a:endParaRPr lang="en-US" sz="1050" dirty="0"/>
          </a:p>
        </p:txBody>
      </p:sp>
      <p:sp>
        <p:nvSpPr>
          <p:cNvPr id="11" name="Shape 8"/>
          <p:cNvSpPr/>
          <p:nvPr/>
        </p:nvSpPr>
        <p:spPr>
          <a:xfrm>
            <a:off x="521208" y="1847088"/>
            <a:ext cx="64008" cy="64008"/>
          </a:xfrm>
          <a:prstGeom prst="line">
            <a:avLst/>
          </a:prstGeom>
          <a:solidFill>
            <a:srgbClr val="3B82F6"/>
          </a:solidFill>
          <a:ln w="12700">
            <a:solidFill>
              <a:srgbClr val="3B82F6"/>
            </a:solidFill>
            <a:prstDash val="solid"/>
          </a:ln>
        </p:spPr>
        <p:txBody>
          <a:bodyPr/>
          <a:lstStyle/>
          <a:p>
            <a:endParaRPr lang="en-IN"/>
          </a:p>
        </p:txBody>
      </p:sp>
      <p:sp>
        <p:nvSpPr>
          <p:cNvPr id="12" name="Text 9"/>
          <p:cNvSpPr/>
          <p:nvPr/>
        </p:nvSpPr>
        <p:spPr>
          <a:xfrm>
            <a:off x="640080" y="1773936"/>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AWS Managed Common Rule Set</a:t>
            </a:r>
            <a:endParaRPr lang="en-US" sz="1050" dirty="0"/>
          </a:p>
        </p:txBody>
      </p:sp>
      <p:sp>
        <p:nvSpPr>
          <p:cNvPr id="13" name="Shape 10"/>
          <p:cNvSpPr/>
          <p:nvPr/>
        </p:nvSpPr>
        <p:spPr>
          <a:xfrm>
            <a:off x="521208" y="2157984"/>
            <a:ext cx="64008" cy="64008"/>
          </a:xfrm>
          <a:prstGeom prst="line">
            <a:avLst/>
          </a:prstGeom>
          <a:solidFill>
            <a:srgbClr val="3B82F6"/>
          </a:solidFill>
          <a:ln w="12700">
            <a:solidFill>
              <a:srgbClr val="3B82F6"/>
            </a:solidFill>
            <a:prstDash val="solid"/>
          </a:ln>
        </p:spPr>
        <p:txBody>
          <a:bodyPr/>
          <a:lstStyle/>
          <a:p>
            <a:endParaRPr lang="en-IN"/>
          </a:p>
        </p:txBody>
      </p:sp>
      <p:sp>
        <p:nvSpPr>
          <p:cNvPr id="14" name="Text 11"/>
          <p:cNvSpPr/>
          <p:nvPr/>
        </p:nvSpPr>
        <p:spPr>
          <a:xfrm>
            <a:off x="640080" y="2084832"/>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SQL Injection Rule Set</a:t>
            </a:r>
            <a:endParaRPr lang="en-US" sz="1050" dirty="0"/>
          </a:p>
        </p:txBody>
      </p:sp>
      <p:sp>
        <p:nvSpPr>
          <p:cNvPr id="15" name="Shape 12"/>
          <p:cNvSpPr/>
          <p:nvPr/>
        </p:nvSpPr>
        <p:spPr>
          <a:xfrm>
            <a:off x="521208" y="2468880"/>
            <a:ext cx="64008" cy="64008"/>
          </a:xfrm>
          <a:prstGeom prst="line">
            <a:avLst/>
          </a:prstGeom>
          <a:solidFill>
            <a:srgbClr val="3B82F6"/>
          </a:solidFill>
          <a:ln w="12700">
            <a:solidFill>
              <a:srgbClr val="3B82F6"/>
            </a:solidFill>
            <a:prstDash val="solid"/>
          </a:ln>
        </p:spPr>
        <p:txBody>
          <a:bodyPr/>
          <a:lstStyle/>
          <a:p>
            <a:endParaRPr lang="en-IN"/>
          </a:p>
        </p:txBody>
      </p:sp>
      <p:sp>
        <p:nvSpPr>
          <p:cNvPr id="16" name="Text 13"/>
          <p:cNvSpPr/>
          <p:nvPr/>
        </p:nvSpPr>
        <p:spPr>
          <a:xfrm>
            <a:off x="640080" y="2395728"/>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Known Bad Inputs Rule Set</a:t>
            </a:r>
            <a:endParaRPr lang="en-US" sz="1050" dirty="0"/>
          </a:p>
        </p:txBody>
      </p:sp>
      <p:sp>
        <p:nvSpPr>
          <p:cNvPr id="17" name="Shape 14"/>
          <p:cNvSpPr/>
          <p:nvPr/>
        </p:nvSpPr>
        <p:spPr>
          <a:xfrm>
            <a:off x="4663440" y="987552"/>
            <a:ext cx="4160520" cy="18288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18" name="Shape 15"/>
          <p:cNvSpPr/>
          <p:nvPr/>
        </p:nvSpPr>
        <p:spPr>
          <a:xfrm>
            <a:off x="4663440" y="987552"/>
            <a:ext cx="4160520" cy="384048"/>
          </a:xfrm>
          <a:prstGeom prst="rect">
            <a:avLst/>
          </a:prstGeom>
          <a:solidFill>
            <a:srgbClr val="EF4444"/>
          </a:solidFill>
          <a:ln w="12700">
            <a:solidFill>
              <a:srgbClr val="EF4444"/>
            </a:solidFill>
            <a:prstDash val="solid"/>
          </a:ln>
        </p:spPr>
        <p:txBody>
          <a:bodyPr/>
          <a:lstStyle/>
          <a:p>
            <a:endParaRPr lang="en-IN"/>
          </a:p>
        </p:txBody>
      </p:sp>
      <p:pic>
        <p:nvPicPr>
          <p:cNvPr id="19" name="Image 1" descr="preencoded.png"/>
          <p:cNvPicPr>
            <a:picLocks noChangeAspect="1"/>
          </p:cNvPicPr>
          <p:nvPr/>
        </p:nvPicPr>
        <p:blipFill>
          <a:blip r:embed="rId4"/>
          <a:stretch>
            <a:fillRect/>
          </a:stretch>
        </p:blipFill>
        <p:spPr>
          <a:xfrm>
            <a:off x="4754880" y="1051560"/>
            <a:ext cx="228600" cy="228600"/>
          </a:xfrm>
          <a:prstGeom prst="rect">
            <a:avLst/>
          </a:prstGeom>
        </p:spPr>
      </p:pic>
      <p:sp>
        <p:nvSpPr>
          <p:cNvPr id="20" name="Text 16"/>
          <p:cNvSpPr/>
          <p:nvPr/>
        </p:nvSpPr>
        <p:spPr>
          <a:xfrm>
            <a:off x="5047488" y="1051560"/>
            <a:ext cx="36850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2 — Identity &amp; Access</a:t>
            </a:r>
            <a:endParaRPr lang="en-US" sz="1100" dirty="0"/>
          </a:p>
        </p:txBody>
      </p:sp>
      <p:sp>
        <p:nvSpPr>
          <p:cNvPr id="21" name="Shape 17"/>
          <p:cNvSpPr/>
          <p:nvPr/>
        </p:nvSpPr>
        <p:spPr>
          <a:xfrm>
            <a:off x="4864608" y="1536192"/>
            <a:ext cx="64008" cy="64008"/>
          </a:xfrm>
          <a:prstGeom prst="line">
            <a:avLst/>
          </a:prstGeom>
          <a:solidFill>
            <a:srgbClr val="EF4444"/>
          </a:solidFill>
          <a:ln w="12700">
            <a:solidFill>
              <a:srgbClr val="EF4444"/>
            </a:solidFill>
            <a:prstDash val="solid"/>
          </a:ln>
        </p:spPr>
        <p:txBody>
          <a:bodyPr/>
          <a:lstStyle/>
          <a:p>
            <a:endParaRPr lang="en-IN"/>
          </a:p>
        </p:txBody>
      </p:sp>
      <p:sp>
        <p:nvSpPr>
          <p:cNvPr id="22" name="Text 18"/>
          <p:cNvSpPr/>
          <p:nvPr/>
        </p:nvSpPr>
        <p:spPr>
          <a:xfrm>
            <a:off x="4983480" y="1463040"/>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Least Privilege IAM Roles</a:t>
            </a:r>
            <a:endParaRPr lang="en-US" sz="1050" dirty="0"/>
          </a:p>
        </p:txBody>
      </p:sp>
      <p:sp>
        <p:nvSpPr>
          <p:cNvPr id="23" name="Shape 19"/>
          <p:cNvSpPr/>
          <p:nvPr/>
        </p:nvSpPr>
        <p:spPr>
          <a:xfrm>
            <a:off x="4864608" y="1847088"/>
            <a:ext cx="64008" cy="64008"/>
          </a:xfrm>
          <a:prstGeom prst="line">
            <a:avLst/>
          </a:prstGeom>
          <a:solidFill>
            <a:srgbClr val="EF4444"/>
          </a:solidFill>
          <a:ln w="12700">
            <a:solidFill>
              <a:srgbClr val="EF4444"/>
            </a:solidFill>
            <a:prstDash val="solid"/>
          </a:ln>
        </p:spPr>
        <p:txBody>
          <a:bodyPr/>
          <a:lstStyle/>
          <a:p>
            <a:endParaRPr lang="en-IN"/>
          </a:p>
        </p:txBody>
      </p:sp>
      <p:sp>
        <p:nvSpPr>
          <p:cNvPr id="24" name="Text 20"/>
          <p:cNvSpPr/>
          <p:nvPr/>
        </p:nvSpPr>
        <p:spPr>
          <a:xfrm>
            <a:off x="4983480" y="1773936"/>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EC2 Instance Profiles</a:t>
            </a:r>
            <a:endParaRPr lang="en-US" sz="1050" dirty="0"/>
          </a:p>
        </p:txBody>
      </p:sp>
      <p:sp>
        <p:nvSpPr>
          <p:cNvPr id="25" name="Shape 21"/>
          <p:cNvSpPr/>
          <p:nvPr/>
        </p:nvSpPr>
        <p:spPr>
          <a:xfrm>
            <a:off x="4864608" y="2157984"/>
            <a:ext cx="64008" cy="64008"/>
          </a:xfrm>
          <a:prstGeom prst="line">
            <a:avLst/>
          </a:prstGeom>
          <a:solidFill>
            <a:srgbClr val="EF4444"/>
          </a:solidFill>
          <a:ln w="12700">
            <a:solidFill>
              <a:srgbClr val="EF4444"/>
            </a:solidFill>
            <a:prstDash val="solid"/>
          </a:ln>
        </p:spPr>
        <p:txBody>
          <a:bodyPr/>
          <a:lstStyle/>
          <a:p>
            <a:endParaRPr lang="en-IN"/>
          </a:p>
        </p:txBody>
      </p:sp>
      <p:sp>
        <p:nvSpPr>
          <p:cNvPr id="26" name="Text 22"/>
          <p:cNvSpPr/>
          <p:nvPr/>
        </p:nvSpPr>
        <p:spPr>
          <a:xfrm>
            <a:off x="4983480" y="2084832"/>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Lambda Execution Roles</a:t>
            </a:r>
            <a:endParaRPr lang="en-US" sz="1050" dirty="0"/>
          </a:p>
        </p:txBody>
      </p:sp>
      <p:sp>
        <p:nvSpPr>
          <p:cNvPr id="27" name="Shape 23"/>
          <p:cNvSpPr/>
          <p:nvPr/>
        </p:nvSpPr>
        <p:spPr>
          <a:xfrm>
            <a:off x="4864608" y="2468880"/>
            <a:ext cx="64008" cy="64008"/>
          </a:xfrm>
          <a:prstGeom prst="line">
            <a:avLst/>
          </a:prstGeom>
          <a:solidFill>
            <a:srgbClr val="EF4444"/>
          </a:solidFill>
          <a:ln w="12700">
            <a:solidFill>
              <a:srgbClr val="EF4444"/>
            </a:solidFill>
            <a:prstDash val="solid"/>
          </a:ln>
        </p:spPr>
        <p:txBody>
          <a:bodyPr/>
          <a:lstStyle/>
          <a:p>
            <a:endParaRPr lang="en-IN"/>
          </a:p>
        </p:txBody>
      </p:sp>
      <p:sp>
        <p:nvSpPr>
          <p:cNvPr id="28" name="Text 24"/>
          <p:cNvSpPr/>
          <p:nvPr/>
        </p:nvSpPr>
        <p:spPr>
          <a:xfrm>
            <a:off x="4983480" y="2395728"/>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No static credentials</a:t>
            </a:r>
            <a:endParaRPr lang="en-US" sz="1050" dirty="0"/>
          </a:p>
        </p:txBody>
      </p:sp>
      <p:sp>
        <p:nvSpPr>
          <p:cNvPr id="29" name="Shape 25"/>
          <p:cNvSpPr/>
          <p:nvPr/>
        </p:nvSpPr>
        <p:spPr>
          <a:xfrm>
            <a:off x="320040" y="2971800"/>
            <a:ext cx="4160520" cy="18288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30" name="Shape 26"/>
          <p:cNvSpPr/>
          <p:nvPr/>
        </p:nvSpPr>
        <p:spPr>
          <a:xfrm>
            <a:off x="320040" y="2971800"/>
            <a:ext cx="4160520" cy="384048"/>
          </a:xfrm>
          <a:prstGeom prst="rect">
            <a:avLst/>
          </a:prstGeom>
          <a:solidFill>
            <a:srgbClr val="F97316"/>
          </a:solidFill>
          <a:ln w="12700">
            <a:solidFill>
              <a:srgbClr val="F97316"/>
            </a:solidFill>
            <a:prstDash val="solid"/>
          </a:ln>
        </p:spPr>
        <p:txBody>
          <a:bodyPr/>
          <a:lstStyle/>
          <a:p>
            <a:endParaRPr lang="en-IN"/>
          </a:p>
        </p:txBody>
      </p:sp>
      <p:pic>
        <p:nvPicPr>
          <p:cNvPr id="31" name="Image 2" descr="preencoded.png"/>
          <p:cNvPicPr>
            <a:picLocks noChangeAspect="1"/>
          </p:cNvPicPr>
          <p:nvPr/>
        </p:nvPicPr>
        <p:blipFill>
          <a:blip r:embed="rId5"/>
          <a:stretch>
            <a:fillRect/>
          </a:stretch>
        </p:blipFill>
        <p:spPr>
          <a:xfrm>
            <a:off x="411480" y="3035808"/>
            <a:ext cx="228600" cy="228600"/>
          </a:xfrm>
          <a:prstGeom prst="rect">
            <a:avLst/>
          </a:prstGeom>
        </p:spPr>
      </p:pic>
      <p:sp>
        <p:nvSpPr>
          <p:cNvPr id="32" name="Text 27"/>
          <p:cNvSpPr/>
          <p:nvPr/>
        </p:nvSpPr>
        <p:spPr>
          <a:xfrm>
            <a:off x="704088" y="3035808"/>
            <a:ext cx="36850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3 — Secret Management</a:t>
            </a:r>
            <a:endParaRPr lang="en-US" sz="1100" dirty="0"/>
          </a:p>
        </p:txBody>
      </p:sp>
      <p:sp>
        <p:nvSpPr>
          <p:cNvPr id="33" name="Shape 28"/>
          <p:cNvSpPr/>
          <p:nvPr/>
        </p:nvSpPr>
        <p:spPr>
          <a:xfrm>
            <a:off x="521208" y="3520440"/>
            <a:ext cx="64008" cy="64008"/>
          </a:xfrm>
          <a:prstGeom prst="line">
            <a:avLst/>
          </a:prstGeom>
          <a:solidFill>
            <a:srgbClr val="F97316"/>
          </a:solidFill>
          <a:ln w="12700">
            <a:solidFill>
              <a:srgbClr val="F97316"/>
            </a:solidFill>
            <a:prstDash val="solid"/>
          </a:ln>
        </p:spPr>
        <p:txBody>
          <a:bodyPr/>
          <a:lstStyle/>
          <a:p>
            <a:endParaRPr lang="en-IN"/>
          </a:p>
        </p:txBody>
      </p:sp>
      <p:sp>
        <p:nvSpPr>
          <p:cNvPr id="34" name="Text 29"/>
          <p:cNvSpPr/>
          <p:nvPr/>
        </p:nvSpPr>
        <p:spPr>
          <a:xfrm>
            <a:off x="640080" y="3447288"/>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DB Credentials in Secrets Manager</a:t>
            </a:r>
            <a:endParaRPr lang="en-US" sz="1050" dirty="0"/>
          </a:p>
        </p:txBody>
      </p:sp>
      <p:sp>
        <p:nvSpPr>
          <p:cNvPr id="35" name="Shape 30"/>
          <p:cNvSpPr/>
          <p:nvPr/>
        </p:nvSpPr>
        <p:spPr>
          <a:xfrm>
            <a:off x="521208" y="3831336"/>
            <a:ext cx="64008" cy="64008"/>
          </a:xfrm>
          <a:prstGeom prst="line">
            <a:avLst/>
          </a:prstGeom>
          <a:solidFill>
            <a:srgbClr val="F97316"/>
          </a:solidFill>
          <a:ln w="12700">
            <a:solidFill>
              <a:srgbClr val="F97316"/>
            </a:solidFill>
            <a:prstDash val="solid"/>
          </a:ln>
        </p:spPr>
        <p:txBody>
          <a:bodyPr/>
          <a:lstStyle/>
          <a:p>
            <a:endParaRPr lang="en-IN"/>
          </a:p>
        </p:txBody>
      </p:sp>
      <p:sp>
        <p:nvSpPr>
          <p:cNvPr id="36" name="Text 31"/>
          <p:cNvSpPr/>
          <p:nvPr/>
        </p:nvSpPr>
        <p:spPr>
          <a:xfrm>
            <a:off x="640080" y="3758184"/>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SMTP Credentials</a:t>
            </a:r>
            <a:endParaRPr lang="en-US" sz="1050" dirty="0"/>
          </a:p>
        </p:txBody>
      </p:sp>
      <p:sp>
        <p:nvSpPr>
          <p:cNvPr id="37" name="Shape 32"/>
          <p:cNvSpPr/>
          <p:nvPr/>
        </p:nvSpPr>
        <p:spPr>
          <a:xfrm>
            <a:off x="521208" y="4142232"/>
            <a:ext cx="64008" cy="64008"/>
          </a:xfrm>
          <a:prstGeom prst="line">
            <a:avLst/>
          </a:prstGeom>
          <a:solidFill>
            <a:srgbClr val="F97316"/>
          </a:solidFill>
          <a:ln w="12700">
            <a:solidFill>
              <a:srgbClr val="F97316"/>
            </a:solidFill>
            <a:prstDash val="solid"/>
          </a:ln>
        </p:spPr>
        <p:txBody>
          <a:bodyPr/>
          <a:lstStyle/>
          <a:p>
            <a:endParaRPr lang="en-IN"/>
          </a:p>
        </p:txBody>
      </p:sp>
      <p:sp>
        <p:nvSpPr>
          <p:cNvPr id="38" name="Text 33"/>
          <p:cNvSpPr/>
          <p:nvPr/>
        </p:nvSpPr>
        <p:spPr>
          <a:xfrm>
            <a:off x="640080" y="4069080"/>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JWT Signing Secret</a:t>
            </a:r>
            <a:endParaRPr lang="en-US" sz="1050" dirty="0"/>
          </a:p>
        </p:txBody>
      </p:sp>
      <p:sp>
        <p:nvSpPr>
          <p:cNvPr id="39" name="Shape 34"/>
          <p:cNvSpPr/>
          <p:nvPr/>
        </p:nvSpPr>
        <p:spPr>
          <a:xfrm>
            <a:off x="521208" y="4453128"/>
            <a:ext cx="64008" cy="64008"/>
          </a:xfrm>
          <a:prstGeom prst="line">
            <a:avLst/>
          </a:prstGeom>
          <a:solidFill>
            <a:srgbClr val="F97316"/>
          </a:solidFill>
          <a:ln w="12700">
            <a:solidFill>
              <a:srgbClr val="F97316"/>
            </a:solidFill>
            <a:prstDash val="solid"/>
          </a:ln>
        </p:spPr>
        <p:txBody>
          <a:bodyPr/>
          <a:lstStyle/>
          <a:p>
            <a:endParaRPr lang="en-IN"/>
          </a:p>
        </p:txBody>
      </p:sp>
      <p:sp>
        <p:nvSpPr>
          <p:cNvPr id="40" name="Text 35"/>
          <p:cNvSpPr/>
          <p:nvPr/>
        </p:nvSpPr>
        <p:spPr>
          <a:xfrm>
            <a:off x="640080" y="4379976"/>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Auto-rotation enabled</a:t>
            </a:r>
            <a:endParaRPr lang="en-US" sz="1050" dirty="0"/>
          </a:p>
        </p:txBody>
      </p:sp>
      <p:sp>
        <p:nvSpPr>
          <p:cNvPr id="41" name="Shape 36"/>
          <p:cNvSpPr/>
          <p:nvPr/>
        </p:nvSpPr>
        <p:spPr>
          <a:xfrm>
            <a:off x="4663440" y="2971800"/>
            <a:ext cx="4160520" cy="1828800"/>
          </a:xfrm>
          <a:prstGeom prst="rect">
            <a:avLst/>
          </a:prstGeom>
          <a:solidFill>
            <a:srgbClr val="FFFFFF"/>
          </a:solidFill>
          <a:ln w="6350">
            <a:solidFill>
              <a:srgbClr val="CBD5E1"/>
            </a:solidFill>
            <a:prstDash val="solid"/>
          </a:ln>
          <a:effectLst>
            <a:outerShdw blurRad="101600" dist="25400" dir="2700000" algn="bl" rotWithShape="0">
              <a:srgbClr val="000000">
                <a:alpha val="8000"/>
              </a:srgbClr>
            </a:outerShdw>
          </a:effectLst>
        </p:spPr>
        <p:txBody>
          <a:bodyPr/>
          <a:lstStyle/>
          <a:p>
            <a:endParaRPr lang="en-IN"/>
          </a:p>
        </p:txBody>
      </p:sp>
      <p:sp>
        <p:nvSpPr>
          <p:cNvPr id="42" name="Shape 37"/>
          <p:cNvSpPr/>
          <p:nvPr/>
        </p:nvSpPr>
        <p:spPr>
          <a:xfrm>
            <a:off x="4663440" y="2971800"/>
            <a:ext cx="4160520" cy="384048"/>
          </a:xfrm>
          <a:prstGeom prst="rect">
            <a:avLst/>
          </a:prstGeom>
          <a:solidFill>
            <a:srgbClr val="7C3AED"/>
          </a:solidFill>
          <a:ln w="12700">
            <a:solidFill>
              <a:srgbClr val="7C3AED"/>
            </a:solidFill>
            <a:prstDash val="solid"/>
          </a:ln>
        </p:spPr>
        <p:txBody>
          <a:bodyPr/>
          <a:lstStyle/>
          <a:p>
            <a:endParaRPr lang="en-IN"/>
          </a:p>
        </p:txBody>
      </p:sp>
      <p:pic>
        <p:nvPicPr>
          <p:cNvPr id="43" name="Image 3" descr="preencoded.png"/>
          <p:cNvPicPr>
            <a:picLocks noChangeAspect="1"/>
          </p:cNvPicPr>
          <p:nvPr/>
        </p:nvPicPr>
        <p:blipFill>
          <a:blip r:embed="rId6"/>
          <a:stretch>
            <a:fillRect/>
          </a:stretch>
        </p:blipFill>
        <p:spPr>
          <a:xfrm>
            <a:off x="4754880" y="3035808"/>
            <a:ext cx="228600" cy="228600"/>
          </a:xfrm>
          <a:prstGeom prst="rect">
            <a:avLst/>
          </a:prstGeom>
        </p:spPr>
      </p:pic>
      <p:sp>
        <p:nvSpPr>
          <p:cNvPr id="44" name="Text 38"/>
          <p:cNvSpPr/>
          <p:nvPr/>
        </p:nvSpPr>
        <p:spPr>
          <a:xfrm>
            <a:off x="5047488" y="3035808"/>
            <a:ext cx="368503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4 — Encryption at Rest</a:t>
            </a:r>
            <a:endParaRPr lang="en-US" sz="1100" dirty="0"/>
          </a:p>
        </p:txBody>
      </p:sp>
      <p:sp>
        <p:nvSpPr>
          <p:cNvPr id="45" name="Shape 39"/>
          <p:cNvSpPr/>
          <p:nvPr/>
        </p:nvSpPr>
        <p:spPr>
          <a:xfrm>
            <a:off x="4864608" y="3520440"/>
            <a:ext cx="64008" cy="64008"/>
          </a:xfrm>
          <a:prstGeom prst="line">
            <a:avLst/>
          </a:prstGeom>
          <a:solidFill>
            <a:srgbClr val="7C3AED"/>
          </a:solidFill>
          <a:ln w="12700">
            <a:solidFill>
              <a:srgbClr val="7C3AED"/>
            </a:solidFill>
            <a:prstDash val="solid"/>
          </a:ln>
        </p:spPr>
        <p:txBody>
          <a:bodyPr/>
          <a:lstStyle/>
          <a:p>
            <a:endParaRPr lang="en-IN"/>
          </a:p>
        </p:txBody>
      </p:sp>
      <p:sp>
        <p:nvSpPr>
          <p:cNvPr id="46" name="Text 40"/>
          <p:cNvSpPr/>
          <p:nvPr/>
        </p:nvSpPr>
        <p:spPr>
          <a:xfrm>
            <a:off x="4983480" y="3447288"/>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KMS encrypts S3 objects</a:t>
            </a:r>
            <a:endParaRPr lang="en-US" sz="1050" dirty="0"/>
          </a:p>
        </p:txBody>
      </p:sp>
      <p:sp>
        <p:nvSpPr>
          <p:cNvPr id="47" name="Shape 41"/>
          <p:cNvSpPr/>
          <p:nvPr/>
        </p:nvSpPr>
        <p:spPr>
          <a:xfrm>
            <a:off x="4864608" y="3831336"/>
            <a:ext cx="64008" cy="64008"/>
          </a:xfrm>
          <a:prstGeom prst="line">
            <a:avLst/>
          </a:prstGeom>
          <a:solidFill>
            <a:srgbClr val="7C3AED"/>
          </a:solidFill>
          <a:ln w="12700">
            <a:solidFill>
              <a:srgbClr val="7C3AED"/>
            </a:solidFill>
            <a:prstDash val="solid"/>
          </a:ln>
        </p:spPr>
        <p:txBody>
          <a:bodyPr/>
          <a:lstStyle/>
          <a:p>
            <a:endParaRPr lang="en-IN"/>
          </a:p>
        </p:txBody>
      </p:sp>
      <p:sp>
        <p:nvSpPr>
          <p:cNvPr id="48" name="Text 42"/>
          <p:cNvSpPr/>
          <p:nvPr/>
        </p:nvSpPr>
        <p:spPr>
          <a:xfrm>
            <a:off x="4983480" y="3758184"/>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KMS encrypts Secrets</a:t>
            </a:r>
            <a:endParaRPr lang="en-US" sz="1050" dirty="0"/>
          </a:p>
        </p:txBody>
      </p:sp>
      <p:sp>
        <p:nvSpPr>
          <p:cNvPr id="49" name="Shape 43"/>
          <p:cNvSpPr/>
          <p:nvPr/>
        </p:nvSpPr>
        <p:spPr>
          <a:xfrm>
            <a:off x="4864608" y="4142232"/>
            <a:ext cx="64008" cy="64008"/>
          </a:xfrm>
          <a:prstGeom prst="line">
            <a:avLst/>
          </a:prstGeom>
          <a:solidFill>
            <a:srgbClr val="7C3AED"/>
          </a:solidFill>
          <a:ln w="12700">
            <a:solidFill>
              <a:srgbClr val="7C3AED"/>
            </a:solidFill>
            <a:prstDash val="solid"/>
          </a:ln>
        </p:spPr>
        <p:txBody>
          <a:bodyPr/>
          <a:lstStyle/>
          <a:p>
            <a:endParaRPr lang="en-IN"/>
          </a:p>
        </p:txBody>
      </p:sp>
      <p:sp>
        <p:nvSpPr>
          <p:cNvPr id="50" name="Text 44"/>
          <p:cNvSpPr/>
          <p:nvPr/>
        </p:nvSpPr>
        <p:spPr>
          <a:xfrm>
            <a:off x="4983480" y="4069080"/>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KMS encrypts CloudWatch Logs</a:t>
            </a:r>
            <a:endParaRPr lang="en-US" sz="1050" dirty="0"/>
          </a:p>
        </p:txBody>
      </p:sp>
      <p:sp>
        <p:nvSpPr>
          <p:cNvPr id="51" name="Shape 45"/>
          <p:cNvSpPr/>
          <p:nvPr/>
        </p:nvSpPr>
        <p:spPr>
          <a:xfrm>
            <a:off x="4864608" y="4453128"/>
            <a:ext cx="64008" cy="64008"/>
          </a:xfrm>
          <a:prstGeom prst="line">
            <a:avLst/>
          </a:prstGeom>
          <a:solidFill>
            <a:srgbClr val="7C3AED"/>
          </a:solidFill>
          <a:ln w="12700">
            <a:solidFill>
              <a:srgbClr val="7C3AED"/>
            </a:solidFill>
            <a:prstDash val="solid"/>
          </a:ln>
        </p:spPr>
        <p:txBody>
          <a:bodyPr/>
          <a:lstStyle/>
          <a:p>
            <a:endParaRPr lang="en-IN"/>
          </a:p>
        </p:txBody>
      </p:sp>
      <p:sp>
        <p:nvSpPr>
          <p:cNvPr id="52" name="Text 46"/>
          <p:cNvSpPr/>
          <p:nvPr/>
        </p:nvSpPr>
        <p:spPr>
          <a:xfrm>
            <a:off x="4983480" y="4379976"/>
            <a:ext cx="3703320" cy="256032"/>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KMS encrypts Lambda env vars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1">
    <p:bg>
      <p:bgPr>
        <a:solidFill>
          <a:srgbClr val="1A2C42"/>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F9900"/>
          </a:solidFill>
          <a:ln w="12700">
            <a:solidFill>
              <a:srgbClr val="FF9900"/>
            </a:solidFill>
            <a:prstDash val="solid"/>
          </a:ln>
        </p:spPr>
        <p:txBody>
          <a:bodyPr/>
          <a:lstStyle/>
          <a:p>
            <a:endParaRPr lang="en-IN"/>
          </a:p>
        </p:txBody>
      </p:sp>
      <p:sp>
        <p:nvSpPr>
          <p:cNvPr id="3" name="Text 1"/>
          <p:cNvSpPr/>
          <p:nvPr/>
        </p:nvSpPr>
        <p:spPr>
          <a:xfrm>
            <a:off x="457200" y="201168"/>
            <a:ext cx="8229600" cy="548640"/>
          </a:xfrm>
          <a:prstGeom prst="rect">
            <a:avLst/>
          </a:prstGeom>
          <a:noFill/>
          <a:ln/>
        </p:spPr>
        <p:txBody>
          <a:bodyPr wrap="square" lIns="0" tIns="0" rIns="0" bIns="0" rtlCol="0" anchor="ctr"/>
          <a:lstStyle/>
          <a:p>
            <a:pPr marL="0" indent="0">
              <a:buNone/>
            </a:pPr>
            <a:r>
              <a:rPr lang="en-US" sz="3000" b="1" dirty="0">
                <a:solidFill>
                  <a:srgbClr val="FF9900"/>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457200" y="749808"/>
            <a:ext cx="8229600" cy="292608"/>
          </a:xfrm>
          <a:prstGeom prst="rect">
            <a:avLst/>
          </a:prstGeom>
          <a:noFill/>
          <a:ln/>
        </p:spPr>
        <p:txBody>
          <a:bodyPr wrap="square" lIns="0" tIns="0" rIns="0" bIns="0" rtlCol="0" anchor="ctr"/>
          <a:lstStyle/>
          <a:p>
            <a:pPr marL="0" indent="0">
              <a:buNone/>
            </a:pPr>
            <a:r>
              <a:rPr lang="en-US" sz="1300" i="1" dirty="0">
                <a:solidFill>
                  <a:srgbClr val="A0C4E0"/>
                </a:solidFill>
                <a:latin typeface="Calibri" pitchFamily="34" charset="0"/>
                <a:ea typeface="Calibri" pitchFamily="34" charset="-122"/>
                <a:cs typeface="Calibri" pitchFamily="34" charset="-120"/>
              </a:rPr>
              <a:t>CareSync demonstrates a production-grade AWS deployment provisioned entirely with Terraform</a:t>
            </a:r>
            <a:endParaRPr lang="en-US" sz="1300" dirty="0"/>
          </a:p>
        </p:txBody>
      </p:sp>
      <p:sp>
        <p:nvSpPr>
          <p:cNvPr id="5" name="Shape 3"/>
          <p:cNvSpPr/>
          <p:nvPr/>
        </p:nvSpPr>
        <p:spPr>
          <a:xfrm>
            <a:off x="320040" y="1143000"/>
            <a:ext cx="2788920" cy="1051560"/>
          </a:xfrm>
          <a:prstGeom prst="rect">
            <a:avLst/>
          </a:prstGeom>
          <a:solidFill>
            <a:srgbClr val="112233"/>
          </a:solidFill>
          <a:ln w="12700">
            <a:solidFill>
              <a:srgbClr val="EF4444"/>
            </a:solidFill>
            <a:prstDash val="solid"/>
          </a:ln>
          <a:effectLst>
            <a:outerShdw blurRad="101600" dist="25400" dir="2700000" algn="bl" rotWithShape="0">
              <a:srgbClr val="000000">
                <a:alpha val="25000"/>
              </a:srgbClr>
            </a:outerShdw>
          </a:effectLst>
        </p:spPr>
        <p:txBody>
          <a:bodyPr/>
          <a:lstStyle/>
          <a:p>
            <a:endParaRPr lang="en-IN"/>
          </a:p>
        </p:txBody>
      </p:sp>
      <p:pic>
        <p:nvPicPr>
          <p:cNvPr id="6" name="Image 0" descr="preencoded.png"/>
          <p:cNvPicPr>
            <a:picLocks noChangeAspect="1"/>
          </p:cNvPicPr>
          <p:nvPr/>
        </p:nvPicPr>
        <p:blipFill>
          <a:blip r:embed="rId3"/>
          <a:stretch>
            <a:fillRect/>
          </a:stretch>
        </p:blipFill>
        <p:spPr>
          <a:xfrm>
            <a:off x="429768" y="1453896"/>
            <a:ext cx="347472" cy="347472"/>
          </a:xfrm>
          <a:prstGeom prst="rect">
            <a:avLst/>
          </a:prstGeom>
        </p:spPr>
      </p:pic>
      <p:sp>
        <p:nvSpPr>
          <p:cNvPr id="7" name="Text 4"/>
          <p:cNvSpPr/>
          <p:nvPr/>
        </p:nvSpPr>
        <p:spPr>
          <a:xfrm>
            <a:off x="850392" y="123444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Secure Architecture</a:t>
            </a:r>
            <a:endParaRPr lang="en-US" sz="1200" dirty="0"/>
          </a:p>
        </p:txBody>
      </p:sp>
      <p:sp>
        <p:nvSpPr>
          <p:cNvPr id="8" name="Text 5"/>
          <p:cNvSpPr/>
          <p:nvPr/>
        </p:nvSpPr>
        <p:spPr>
          <a:xfrm>
            <a:off x="850392" y="158191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IAM + KMS + Secrets Manager + WAF — layered security</a:t>
            </a:r>
            <a:endParaRPr lang="en-US" sz="950" dirty="0"/>
          </a:p>
        </p:txBody>
      </p:sp>
      <p:sp>
        <p:nvSpPr>
          <p:cNvPr id="9" name="Shape 6"/>
          <p:cNvSpPr/>
          <p:nvPr/>
        </p:nvSpPr>
        <p:spPr>
          <a:xfrm>
            <a:off x="3264408" y="1143000"/>
            <a:ext cx="2788920" cy="1051560"/>
          </a:xfrm>
          <a:prstGeom prst="rect">
            <a:avLst/>
          </a:prstGeom>
          <a:solidFill>
            <a:srgbClr val="112233"/>
          </a:solidFill>
          <a:ln w="12700">
            <a:solidFill>
              <a:srgbClr val="7C3AED"/>
            </a:solidFill>
            <a:prstDash val="solid"/>
          </a:ln>
          <a:effectLst>
            <a:outerShdw blurRad="101600" dist="25400" dir="2700000" algn="bl" rotWithShape="0">
              <a:srgbClr val="000000">
                <a:alpha val="25000"/>
              </a:srgbClr>
            </a:outerShdw>
          </a:effectLst>
        </p:spPr>
        <p:txBody>
          <a:bodyPr/>
          <a:lstStyle/>
          <a:p>
            <a:endParaRPr lang="en-IN"/>
          </a:p>
        </p:txBody>
      </p:sp>
      <p:pic>
        <p:nvPicPr>
          <p:cNvPr id="10" name="Image 1" descr="preencoded.png"/>
          <p:cNvPicPr>
            <a:picLocks noChangeAspect="1"/>
          </p:cNvPicPr>
          <p:nvPr/>
        </p:nvPicPr>
        <p:blipFill>
          <a:blip r:embed="rId4"/>
          <a:stretch>
            <a:fillRect/>
          </a:stretch>
        </p:blipFill>
        <p:spPr>
          <a:xfrm>
            <a:off x="3374136" y="1453896"/>
            <a:ext cx="347472" cy="347472"/>
          </a:xfrm>
          <a:prstGeom prst="rect">
            <a:avLst/>
          </a:prstGeom>
        </p:spPr>
      </p:pic>
      <p:sp>
        <p:nvSpPr>
          <p:cNvPr id="11" name="Text 7"/>
          <p:cNvSpPr/>
          <p:nvPr/>
        </p:nvSpPr>
        <p:spPr>
          <a:xfrm>
            <a:off x="3794760" y="123444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IaC Provisioning</a:t>
            </a:r>
            <a:endParaRPr lang="en-US" sz="1200" dirty="0"/>
          </a:p>
        </p:txBody>
      </p:sp>
      <p:sp>
        <p:nvSpPr>
          <p:cNvPr id="12" name="Text 8"/>
          <p:cNvSpPr/>
          <p:nvPr/>
        </p:nvSpPr>
        <p:spPr>
          <a:xfrm>
            <a:off x="3794760" y="158191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15 Terraform modules — zero manual AWS console work</a:t>
            </a:r>
            <a:endParaRPr lang="en-US" sz="950" dirty="0"/>
          </a:p>
        </p:txBody>
      </p:sp>
      <p:sp>
        <p:nvSpPr>
          <p:cNvPr id="13" name="Shape 9"/>
          <p:cNvSpPr/>
          <p:nvPr/>
        </p:nvSpPr>
        <p:spPr>
          <a:xfrm>
            <a:off x="6208776" y="1143000"/>
            <a:ext cx="2788920" cy="1051560"/>
          </a:xfrm>
          <a:prstGeom prst="rect">
            <a:avLst/>
          </a:prstGeom>
          <a:solidFill>
            <a:srgbClr val="112233"/>
          </a:solidFill>
          <a:ln w="12700">
            <a:solidFill>
              <a:srgbClr val="22C55E"/>
            </a:solidFill>
            <a:prstDash val="solid"/>
          </a:ln>
          <a:effectLst>
            <a:outerShdw blurRad="101600" dist="25400" dir="2700000" algn="bl" rotWithShape="0">
              <a:srgbClr val="000000">
                <a:alpha val="25000"/>
              </a:srgbClr>
            </a:outerShdw>
          </a:effectLst>
        </p:spPr>
        <p:txBody>
          <a:bodyPr/>
          <a:lstStyle/>
          <a:p>
            <a:endParaRPr lang="en-IN"/>
          </a:p>
        </p:txBody>
      </p:sp>
      <p:pic>
        <p:nvPicPr>
          <p:cNvPr id="14" name="Image 2" descr="preencoded.png"/>
          <p:cNvPicPr>
            <a:picLocks noChangeAspect="1"/>
          </p:cNvPicPr>
          <p:nvPr/>
        </p:nvPicPr>
        <p:blipFill>
          <a:blip r:embed="rId5"/>
          <a:stretch>
            <a:fillRect/>
          </a:stretch>
        </p:blipFill>
        <p:spPr>
          <a:xfrm>
            <a:off x="6318504" y="1453896"/>
            <a:ext cx="347472" cy="347472"/>
          </a:xfrm>
          <a:prstGeom prst="rect">
            <a:avLst/>
          </a:prstGeom>
        </p:spPr>
      </p:pic>
      <p:sp>
        <p:nvSpPr>
          <p:cNvPr id="15" name="Text 10"/>
          <p:cNvSpPr/>
          <p:nvPr/>
        </p:nvSpPr>
        <p:spPr>
          <a:xfrm>
            <a:off x="6739128" y="123444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High Availability</a:t>
            </a:r>
            <a:endParaRPr lang="en-US" sz="1200" dirty="0"/>
          </a:p>
        </p:txBody>
      </p:sp>
      <p:sp>
        <p:nvSpPr>
          <p:cNvPr id="16" name="Text 11"/>
          <p:cNvSpPr/>
          <p:nvPr/>
        </p:nvSpPr>
        <p:spPr>
          <a:xfrm>
            <a:off x="6739128" y="158191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Multi-AZ RDS + Auto Scaling across 2 AZs</a:t>
            </a:r>
            <a:endParaRPr lang="en-US" sz="950" dirty="0"/>
          </a:p>
        </p:txBody>
      </p:sp>
      <p:sp>
        <p:nvSpPr>
          <p:cNvPr id="17" name="Shape 12"/>
          <p:cNvSpPr/>
          <p:nvPr/>
        </p:nvSpPr>
        <p:spPr>
          <a:xfrm>
            <a:off x="320040" y="2331720"/>
            <a:ext cx="2788920" cy="1051560"/>
          </a:xfrm>
          <a:prstGeom prst="rect">
            <a:avLst/>
          </a:prstGeom>
          <a:solidFill>
            <a:srgbClr val="112233"/>
          </a:solidFill>
          <a:ln w="12700">
            <a:solidFill>
              <a:srgbClr val="EC4899"/>
            </a:solidFill>
            <a:prstDash val="solid"/>
          </a:ln>
          <a:effectLst>
            <a:outerShdw blurRad="101600" dist="25400" dir="2700000" algn="bl" rotWithShape="0">
              <a:srgbClr val="000000">
                <a:alpha val="25000"/>
              </a:srgbClr>
            </a:outerShdw>
          </a:effectLst>
        </p:spPr>
        <p:txBody>
          <a:bodyPr/>
          <a:lstStyle/>
          <a:p>
            <a:endParaRPr lang="en-IN"/>
          </a:p>
        </p:txBody>
      </p:sp>
      <p:pic>
        <p:nvPicPr>
          <p:cNvPr id="18" name="Image 3" descr="preencoded.png"/>
          <p:cNvPicPr>
            <a:picLocks noChangeAspect="1"/>
          </p:cNvPicPr>
          <p:nvPr/>
        </p:nvPicPr>
        <p:blipFill>
          <a:blip r:embed="rId6"/>
          <a:stretch>
            <a:fillRect/>
          </a:stretch>
        </p:blipFill>
        <p:spPr>
          <a:xfrm>
            <a:off x="429768" y="2642616"/>
            <a:ext cx="347472" cy="347472"/>
          </a:xfrm>
          <a:prstGeom prst="rect">
            <a:avLst/>
          </a:prstGeom>
        </p:spPr>
      </p:pic>
      <p:sp>
        <p:nvSpPr>
          <p:cNvPr id="19" name="Text 13"/>
          <p:cNvSpPr/>
          <p:nvPr/>
        </p:nvSpPr>
        <p:spPr>
          <a:xfrm>
            <a:off x="850392" y="242316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Full Observability</a:t>
            </a:r>
            <a:endParaRPr lang="en-US" sz="1200" dirty="0"/>
          </a:p>
        </p:txBody>
      </p:sp>
      <p:sp>
        <p:nvSpPr>
          <p:cNvPr id="20" name="Text 14"/>
          <p:cNvSpPr/>
          <p:nvPr/>
        </p:nvSpPr>
        <p:spPr>
          <a:xfrm>
            <a:off x="850392" y="277063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CloudWatch metrics, alarms, and SNS admin alerts</a:t>
            </a:r>
            <a:endParaRPr lang="en-US" sz="950" dirty="0"/>
          </a:p>
        </p:txBody>
      </p:sp>
      <p:sp>
        <p:nvSpPr>
          <p:cNvPr id="21" name="Shape 15"/>
          <p:cNvSpPr/>
          <p:nvPr/>
        </p:nvSpPr>
        <p:spPr>
          <a:xfrm>
            <a:off x="3264408" y="2331720"/>
            <a:ext cx="2788920" cy="1051560"/>
          </a:xfrm>
          <a:prstGeom prst="rect">
            <a:avLst/>
          </a:prstGeom>
          <a:solidFill>
            <a:srgbClr val="112233"/>
          </a:solidFill>
          <a:ln w="12700">
            <a:solidFill>
              <a:srgbClr val="EAB308"/>
            </a:solidFill>
            <a:prstDash val="solid"/>
          </a:ln>
          <a:effectLst>
            <a:outerShdw blurRad="101600" dist="25400" dir="2700000" algn="bl" rotWithShape="0">
              <a:srgbClr val="000000">
                <a:alpha val="25000"/>
              </a:srgbClr>
            </a:outerShdw>
          </a:effectLst>
        </p:spPr>
        <p:txBody>
          <a:bodyPr/>
          <a:lstStyle/>
          <a:p>
            <a:endParaRPr lang="en-IN"/>
          </a:p>
        </p:txBody>
      </p:sp>
      <p:pic>
        <p:nvPicPr>
          <p:cNvPr id="22" name="Image 4" descr="preencoded.png"/>
          <p:cNvPicPr>
            <a:picLocks noChangeAspect="1"/>
          </p:cNvPicPr>
          <p:nvPr/>
        </p:nvPicPr>
        <p:blipFill>
          <a:blip r:embed="rId7"/>
          <a:stretch>
            <a:fillRect/>
          </a:stretch>
        </p:blipFill>
        <p:spPr>
          <a:xfrm>
            <a:off x="3374136" y="2642616"/>
            <a:ext cx="347472" cy="347472"/>
          </a:xfrm>
          <a:prstGeom prst="rect">
            <a:avLst/>
          </a:prstGeom>
        </p:spPr>
      </p:pic>
      <p:sp>
        <p:nvSpPr>
          <p:cNvPr id="23" name="Text 16"/>
          <p:cNvSpPr/>
          <p:nvPr/>
        </p:nvSpPr>
        <p:spPr>
          <a:xfrm>
            <a:off x="3794760" y="242316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Serverless Automation</a:t>
            </a:r>
            <a:endParaRPr lang="en-US" sz="1200" dirty="0"/>
          </a:p>
        </p:txBody>
      </p:sp>
      <p:sp>
        <p:nvSpPr>
          <p:cNvPr id="24" name="Text 17"/>
          <p:cNvSpPr/>
          <p:nvPr/>
        </p:nvSpPr>
        <p:spPr>
          <a:xfrm>
            <a:off x="3794760" y="277063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Lambda reminders + cleanup via EventBridge scheduler</a:t>
            </a:r>
            <a:endParaRPr lang="en-US" sz="950" dirty="0"/>
          </a:p>
        </p:txBody>
      </p:sp>
      <p:sp>
        <p:nvSpPr>
          <p:cNvPr id="25" name="Shape 18"/>
          <p:cNvSpPr/>
          <p:nvPr/>
        </p:nvSpPr>
        <p:spPr>
          <a:xfrm>
            <a:off x="6208776" y="2331720"/>
            <a:ext cx="2788920" cy="1051560"/>
          </a:xfrm>
          <a:prstGeom prst="rect">
            <a:avLst/>
          </a:prstGeom>
          <a:solidFill>
            <a:srgbClr val="112233"/>
          </a:solidFill>
          <a:ln w="12700">
            <a:solidFill>
              <a:srgbClr val="3B82F6"/>
            </a:solidFill>
            <a:prstDash val="solid"/>
          </a:ln>
          <a:effectLst>
            <a:outerShdw blurRad="101600" dist="25400" dir="2700000" algn="bl" rotWithShape="0">
              <a:srgbClr val="000000">
                <a:alpha val="25000"/>
              </a:srgbClr>
            </a:outerShdw>
          </a:effectLst>
        </p:spPr>
        <p:txBody>
          <a:bodyPr/>
          <a:lstStyle/>
          <a:p>
            <a:endParaRPr lang="en-IN"/>
          </a:p>
        </p:txBody>
      </p:sp>
      <p:pic>
        <p:nvPicPr>
          <p:cNvPr id="26" name="Image 5" descr="preencoded.png"/>
          <p:cNvPicPr>
            <a:picLocks noChangeAspect="1"/>
          </p:cNvPicPr>
          <p:nvPr/>
        </p:nvPicPr>
        <p:blipFill>
          <a:blip r:embed="rId8"/>
          <a:stretch>
            <a:fillRect/>
          </a:stretch>
        </p:blipFill>
        <p:spPr>
          <a:xfrm>
            <a:off x="6318504" y="2642616"/>
            <a:ext cx="347472" cy="347472"/>
          </a:xfrm>
          <a:prstGeom prst="rect">
            <a:avLst/>
          </a:prstGeom>
        </p:spPr>
      </p:pic>
      <p:sp>
        <p:nvSpPr>
          <p:cNvPr id="27" name="Text 19"/>
          <p:cNvSpPr/>
          <p:nvPr/>
        </p:nvSpPr>
        <p:spPr>
          <a:xfrm>
            <a:off x="6739128" y="2423160"/>
            <a:ext cx="2176272" cy="32004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Edge Optimised</a:t>
            </a:r>
            <a:endParaRPr lang="en-US" sz="1200" dirty="0"/>
          </a:p>
        </p:txBody>
      </p:sp>
      <p:sp>
        <p:nvSpPr>
          <p:cNvPr id="28" name="Text 20"/>
          <p:cNvSpPr/>
          <p:nvPr/>
        </p:nvSpPr>
        <p:spPr>
          <a:xfrm>
            <a:off x="6739128" y="2770632"/>
            <a:ext cx="2176272" cy="502920"/>
          </a:xfrm>
          <a:prstGeom prst="rect">
            <a:avLst/>
          </a:prstGeom>
          <a:noFill/>
          <a:ln/>
        </p:spPr>
        <p:txBody>
          <a:bodyPr wrap="square" lIns="0" tIns="0" rIns="0" bIns="0" rtlCol="0" anchor="ctr"/>
          <a:lstStyle/>
          <a:p>
            <a:pPr marL="0" indent="0">
              <a:buNone/>
            </a:pPr>
            <a:r>
              <a:rPr lang="en-US" sz="950" dirty="0">
                <a:solidFill>
                  <a:srgbClr val="A0BDD0"/>
                </a:solidFill>
                <a:latin typeface="Calibri" pitchFamily="34" charset="0"/>
                <a:ea typeface="Calibri" pitchFamily="34" charset="-122"/>
                <a:cs typeface="Calibri" pitchFamily="34" charset="-120"/>
              </a:rPr>
              <a:t>CloudFront CDN + WAF for low latency and protection</a:t>
            </a:r>
            <a:endParaRPr lang="en-US" sz="950" dirty="0"/>
          </a:p>
        </p:txBody>
      </p:sp>
      <p:sp>
        <p:nvSpPr>
          <p:cNvPr id="29" name="Shape 21"/>
          <p:cNvSpPr/>
          <p:nvPr/>
        </p:nvSpPr>
        <p:spPr>
          <a:xfrm>
            <a:off x="2286000" y="4224528"/>
            <a:ext cx="4572000" cy="685800"/>
          </a:xfrm>
          <a:prstGeom prst="rect">
            <a:avLst/>
          </a:prstGeom>
          <a:solidFill>
            <a:srgbClr val="FF9900"/>
          </a:solidFill>
          <a:ln w="12700">
            <a:solidFill>
              <a:srgbClr val="FF9900"/>
            </a:solidFill>
            <a:prstDash val="solid"/>
          </a:ln>
          <a:effectLst>
            <a:outerShdw blurRad="101600" dist="25400" dir="2700000" algn="bl" rotWithShape="0">
              <a:srgbClr val="000000">
                <a:alpha val="30000"/>
              </a:srgbClr>
            </a:outerShdw>
          </a:effectLst>
        </p:spPr>
        <p:txBody>
          <a:bodyPr/>
          <a:lstStyle/>
          <a:p>
            <a:endParaRPr lang="en-IN"/>
          </a:p>
        </p:txBody>
      </p:sp>
      <p:sp>
        <p:nvSpPr>
          <p:cNvPr id="30" name="Text 22"/>
          <p:cNvSpPr/>
          <p:nvPr/>
        </p:nvSpPr>
        <p:spPr>
          <a:xfrm>
            <a:off x="2286000" y="4224528"/>
            <a:ext cx="4572000" cy="685800"/>
          </a:xfrm>
          <a:prstGeom prst="rect">
            <a:avLst/>
          </a:prstGeom>
          <a:noFill/>
          <a:ln/>
        </p:spPr>
        <p:txBody>
          <a:bodyPr wrap="square" lIns="0" tIns="0" rIns="0" bIns="0" rtlCol="0" anchor="ctr"/>
          <a:lstStyle/>
          <a:p>
            <a:pPr marL="0" indent="0" algn="ctr">
              <a:buNone/>
            </a:pPr>
            <a:r>
              <a:rPr lang="en-US" sz="1800" b="1" dirty="0">
                <a:solidFill>
                  <a:srgbClr val="1A2C42"/>
                </a:solidFill>
                <a:latin typeface="Cambria" pitchFamily="34" charset="0"/>
                <a:ea typeface="Cambria" pitchFamily="34" charset="-122"/>
                <a:cs typeface="Cambria" pitchFamily="34" charset="-120"/>
              </a:rPr>
              <a:t>Thank You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804</TotalTime>
  <Words>1452</Words>
  <Application>Microsoft Office PowerPoint</Application>
  <PresentationFormat>On-screen Show (16:9)</PresentationFormat>
  <Paragraphs>224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CareSync – Secure Healthcare Appointment Management Platform</dc:title>
  <dc:subject>PptxGenJS Presentation</dc:subject>
  <dc:creator>PptxGenJS</dc:creator>
  <cp:lastModifiedBy>Nandana Suresh(UST,IN)</cp:lastModifiedBy>
  <cp:revision>10</cp:revision>
  <dcterms:created xsi:type="dcterms:W3CDTF">2026-06-09T22:59:33Z</dcterms:created>
  <dcterms:modified xsi:type="dcterms:W3CDTF">2026-06-10T13:32:27Z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2026-06-10T00:08:10Z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add20ff7-4ef8-4f3c-9266-c29c7dc68ce5</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